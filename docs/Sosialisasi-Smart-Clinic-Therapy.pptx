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715a909-fabf-da05-7890-092366b65bd4}">
          <p14:sldIdLst>
            <p14:sldId id="256"/>
            <p14:sldId id="257"/>
          </p14:sldIdLst>
        </p14:section>
        <p14:section name="Latar Belakang" id="{1046ae83-3064-d716-5661-304c8a171b33}">
          <p14:sldIdLst>
            <p14:sldId id="258"/>
            <p14:sldId id="259"/>
          </p14:sldIdLst>
        </p14:section>
        <p14:section name="Alur &amp; Fitur" id="{cd88b441-5049-14e2-27bf-783407538ce2}">
          <p14:sldIdLst>
            <p14:sldId id="260"/>
            <p14:sldId id="261"/>
            <p14:sldId id="262"/>
            <p14:sldId id="263"/>
            <p14:sldId id="264"/>
            <p14:sldId id="265"/>
          </p14:sldIdLst>
        </p14:section>
        <p14:section name="Langganan &amp; Referal" id="{a9e410d8-d062-8d60-67e1-cc0218814c62}">
          <p14:sldIdLst>
            <p14:sldId id="266"/>
            <p14:sldId id="267"/>
            <p14:sldId id="268"/>
          </p14:sldIdLst>
        </p14:section>
        <p14:section name="Mulai &amp; Penutup" id="{cf03d64c-a015-56db-4581-c321a3efae9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Perkenalkan diri dan tim CV Darma Ayu Tekno. Sampaikan tujuan sesi: mengenalkan Smart Clinic Therapy, alur pemakaiannya, paket langganan, dan cara memulai. Durasi paparan sekitar 30 menit, dilanjutkan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agenda singkat. Ingatkan peserta untuk mematikan mikrofon, menulis pertanyaan di kolom Chat, dan bahwa pertanyaan akan dijawab di akhir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aplikasi ini lahir dari kebutuhan rumah terapi, bukan klinik umum. Contoh alurnya: pasien cedera datang, menjalani terapi bertahap dari fase akut sampai kembali berolahraga, dan setiap sesi dicatat evaluasinya.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secara terbuka: karena dasarnya rumah terapi, ada kemungkinan menu dan fungsi tidak cocok untuk klinik umum. Untuk klinik umum seperti rumah sakit, kami memiliki aplikasi terpisah yang akan dibahas di sesi lain, di luar topik hari ini. Persilakan peserta dari klinik umum menghubungi kami setelah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harian secara berurutan. Pasien didaftarkan sekali saja, lalu setiap kunjungan dibuat reservasi. Dari reservasi dibuka sesi terapi, terapis mengisi evaluasi, kemudian pasien membayar di kasir dan menerima kwitansi. Semua data otomatis tersimpan untuk laporan.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form reservasi. Admin cukup memilih pasien, mengisi keluhan, dan memilih jadwal. Dari detail reservasi ada tombol untuk mengirim pengingat jadwal lewat WhatsApp. Sistem juga otomatis menolak jadwal yang bentrok, baik untuk terapis maupun pasien.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layanan rumah terapi. Setiap sesi memakai tindakan dari katalog klinik beserta tarifnya. Terapis mengisi tindakan yang dilakukan dan catatan evaluasi, lalu bisa langsung menjadwalkan tahap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bahwa kasir tidak perlu menghitung manual. Tagihan berasal dari tarif setiap sesi. Kasir bisa menambah biaya lain-lain atau diskon, memilih metode bayar, lalu mencetak kwitansi dan surat keterangan sakit.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Pemilik klinik bisa memantau pendapatan dari dashboard: hari ini, minggu ini, bulan ini, atau rentang tanggal tertentu, lengkap dengan perbandingan terhadap periode sebelumnya dan rincian per metode pembayaran.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fitur pendukung secara singkat. Tekankan bahwa panduan penggunaan bergambar tersedia langsung di aplikasi, di menu Bantuan.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PENTING untuk pembicara: pastikan harga dan masa uji coba sesuai pengaturan terbaru di panel admin (menu Paket Langganan) sebelum sesi dimulai. Jelaskan bahwa klinik bisa mencoba gratis lebih dulu, lalu memilih paket 6 bulan atau 1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pembelian dan perpanjangan dilakukan sendiri oleh klinik dari menu Langganan Paket. Setelah admin platform memverifikasi pembayaran, paket langsung aktif. Jika langganan masih berjalan, masa aktif baru disambung dari tanggal berakhir sebelumnya, jadi tidak ada hari yang hilang. Saat masa aktif habis, menu terkunci, tetapi halaman beli paket tetap bisa dibuka.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klinik punya kode referal di menu Settings, Referal Klinik. Bagikan link undangan ke klinik lain. Komisi dicatat saat klinik yang diundang mulai berlangganan paket, bukan saat mendaftar atau selama uji coba. Besaran komisi per paket tampil di halaman tersebut. Catatan: nilai komisi pada gambar adalah data contoh, sebutkan nilai yang berlaku saat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Ajak peserta mencoba langsung: daftar, atur profil klinik, isi katalog tindakan dan terapis, lalu mulai melayani pasien. Ingatkan bahwa panduan bergambar tersedia di menu Bantuan.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 kekhawatiran umum soal data: data setiap klinik terpisah, staf hanya bisa mengakses menu sesuai perannya, dan dokumen pembayaran tidak bisa dibuka pihak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sesi tanya jawab. Bacakan pertanyaan dari kolom Chat. Untuk peserta dari klinik umum atau rumah sakit, arahkan untuk menghubungi kami terkait aplikasi terpisah. Tutup dengan informasi kontak.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Gelap">
    <p:bg>
      <p:bgPr>
        <a:solidFill>
          <a:srgbClr val="0B3C49"/>
        </a:solidFill>
      </p:bgPr>
    </p:bg>
    <p:spTree>
      <p:nvGrpSpPr>
        <p:cNvPr id="1" name=""/>
        <p:cNvGrpSpPr/>
        <p:nvPr/>
      </p:nvGrpSpPr>
      <p:grpSpPr>
        <a:xfrm>
          <a:off x="0" y="0"/>
          <a:ext cx="0" cy="0"/>
          <a:chOff x="0" y="0"/>
          <a:chExt cx="0" cy="0"/>
        </a:xfrm>
      </p:grpSpPr>
      <p:pic>
        <p:nvPicPr>
          <p:cNvPr id="2" name="Image 0" descr="Logo Smart Clinic Therapy">    </p:cNvPr>
          <p:cNvPicPr>
            <a:picLocks noChangeAspect="1"/>
          </p:cNvPicPr>
          <p:nvPr/>
        </p:nvPicPr>
        <p:blipFill>
          <a:blip r:embed="rId1"/>
          <a:stretch>
            <a:fillRect/>
          </a:stretch>
        </p:blipFill>
        <p:spPr>
          <a:xfrm>
            <a:off x="731520" y="640080"/>
            <a:ext cx="822960" cy="822960"/>
          </a:xfrm>
          <a:prstGeom prst="rect">
            <a:avLst/>
          </a:prstGeom>
        </p:spPr>
      </p:pic>
      <p:sp>
        <p:nvSpPr>
          <p:cNvPr id="3" name="Text 0"/>
          <p:cNvSpPr/>
          <p:nvPr>
            <p:ph idx="101" type="title" hasCustomPrompt="1"/>
          </p:nvPr>
        </p:nvSpPr>
        <p:spPr>
          <a:xfrm>
            <a:off x="731520" y="2011680"/>
            <a:ext cx="960120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3520440"/>
            <a:ext cx="9601200" cy="1005840"/>
          </a:xfrm>
          <a:prstGeom prst="rect">
            <a:avLst/>
          </a:prstGeom>
          <a:noFill/>
          <a:ln/>
        </p:spPr>
        <p:txBody>
          <a:bodyPr wrap="square" rtlCol="0"/>
          <a:lstStyle>
            <a:lvl1pPr algn="l" indent="0" marL="0">
              <a:buNone/>
              <a:defRPr lang="en-US" sz="2400" dirty="0">
                <a:solidFill>
                  <a:schemeClr val="accent5"/>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6B7F83"/>
                </a:solidFill>
              </a:rPr>
              <a:t>Sosialisasi Smart Clinic Therapy · CV Darma Ayu Tekno</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jp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jp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jp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9601200" cy="1371600"/>
          </a:xfrm>
          <a:prstGeom prst="rect">
            <a:avLst/>
          </a:prstGeom>
          <a:noFill/>
          <a:ln/>
        </p:spPr>
        <p:txBody>
          <a:bodyPr wrap="square" lIns="0" tIns="0" rIns="0" bIns="0" rtlCol="0" anchor="b"/>
          <a:lstStyle/>
          <a:p>
            <a:pPr algn="l" indent="0" marL="0">
              <a:buNone/>
            </a:pPr>
            <a:r>
              <a:rPr lang="en-US" sz="4800" b="1" dirty="0">
                <a:solidFill>
                  <a:schemeClr val="bg1"/>
                </a:solidFill>
              </a:rPr>
              <a:t>Smart Clinic Therapy</a:t>
            </a:r>
            <a:endParaRPr lang="en-US" sz="4800" dirty="0"/>
          </a:p>
        </p:txBody>
      </p:sp>
      <p:sp>
        <p:nvSpPr>
          <p:cNvPr id="3" name="Text 0"/>
          <p:cNvSpPr/>
          <p:nvPr>
            <p:ph idx="102" type="body" hasCustomPrompt="1"/>
          </p:nvPr>
        </p:nvSpPr>
        <p:spPr>
          <a:xfrm>
            <a:off x="731520" y="3520440"/>
            <a:ext cx="9601200" cy="1005840"/>
          </a:xfrm>
          <a:prstGeom prst="rect">
            <a:avLst/>
          </a:prstGeom>
          <a:noFill/>
          <a:ln/>
        </p:spPr>
        <p:txBody>
          <a:bodyPr wrap="square" lIns="0" tIns="0" rIns="0" bIns="0" rtlCol="0" anchor="t"/>
          <a:lstStyle/>
          <a:p>
            <a:pPr algn="l" indent="0" marL="0">
              <a:buNone/>
            </a:pPr>
            <a:r>
              <a:rPr lang="en-US" sz="2400" dirty="0">
                <a:solidFill>
                  <a:schemeClr val="accent5"/>
                </a:solidFill>
              </a:rPr>
              <a:t>Sosialisasi platform manajemen rumah terapi untuk pemilik klinik</a:t>
            </a:r>
            <a:endParaRPr lang="en-US" sz="2400" dirty="0"/>
          </a:p>
        </p:txBody>
      </p:sp>
      <p:sp>
        <p:nvSpPr>
          <p:cNvPr id="4" name="info sesi"/>
          <p:cNvSpPr txBox="1"/>
          <p:nvPr/>
        </p:nvSpPr>
        <p:spPr>
          <a:xfrm>
            <a:off x="731520" y="5120640"/>
            <a:ext cx="9144000" cy="822960"/>
          </a:xfrm>
          <a:prstGeom prst="rect">
            <a:avLst/>
          </a:prstGeom>
          <a:noFill/>
          <a:ln/>
        </p:spPr>
        <p:txBody>
          <a:bodyPr wrap="square" lIns="0" tIns="0" rIns="0" bIns="0" rtlCol="0" anchor="ctr"/>
          <a:lstStyle/>
          <a:p>
            <a:pPr indent="0" marL="0">
              <a:buNone/>
            </a:pPr>
            <a:r>
              <a:rPr lang="en-US" sz="1600" dirty="0">
                <a:solidFill>
                  <a:srgbClr val="FFFFFF"/>
                </a:solidFill>
              </a:rPr>
              <a:t>Sesi Zoom · Oktober 2026</a:t>
            </a:r>
            <a:endParaRPr lang="en-US" sz="1600" dirty="0"/>
          </a:p>
          <a:p>
            <a:pPr indent="0" marL="0">
              <a:buNone/>
            </a:pPr>
            <a:r>
              <a:rPr lang="en-US" sz="1600" dirty="0">
                <a:solidFill>
                  <a:srgbClr val="FFFFFF"/>
                </a:solidFill>
              </a:rPr>
              <a:t>Developed by CV Darma Ayu Tekno, Indramayu, Jawa Barat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Agenda hari ini</a:t>
            </a:r>
            <a:endParaRPr lang="en-US" sz="3600" dirty="0"/>
          </a:p>
        </p:txBody>
      </p:sp>
      <p:sp>
        <p:nvSpPr>
          <p:cNvPr id="3" name="agenda 1 nomor"/>
          <p:cNvSpPr/>
          <p:nvPr/>
        </p:nvSpPr>
        <p:spPr>
          <a:xfrm>
            <a:off x="548640" y="1417320"/>
            <a:ext cx="566928" cy="566928"/>
          </a:xfrm>
          <a:prstGeom prst="ellipse">
            <a:avLst/>
          </a:prstGeom>
          <a:solidFill>
            <a:schemeClr val="accent1"/>
          </a:solidFill>
          <a:ln w="12700">
            <a:solidFill>
              <a:schemeClr val="accent1"/>
            </a:solidFill>
            <a:prstDash val="solid"/>
          </a:ln>
        </p:spPr>
      </p:sp>
      <p:sp>
        <p:nvSpPr>
          <p:cNvPr id="4" name="agenda 1 angka"/>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agenda 1 teks"/>
          <p:cNvSpPr txBox="1"/>
          <p:nvPr/>
        </p:nvSpPr>
        <p:spPr>
          <a:xfrm>
            <a:off x="1325880" y="1371600"/>
            <a:ext cx="5669280" cy="777240"/>
          </a:xfrm>
          <a:prstGeom prst="rect">
            <a:avLst/>
          </a:prstGeom>
          <a:noFill/>
          <a:ln/>
        </p:spPr>
        <p:txBody>
          <a:bodyPr wrap="square" lIns="0" tIns="0" rIns="0" bIns="0" rtlCol="0" anchor="t"/>
          <a:lstStyle/>
          <a:p>
            <a:pPr indent="0" marL="0">
              <a:buNone/>
            </a:pPr>
            <a:r>
              <a:rPr lang="en-US" sz="2000" b="1" dirty="0">
                <a:solidFill>
                  <a:schemeClr val="tx2"/>
                </a:solidFill>
              </a:rPr>
              <a:t>Latar belakang &amp; cakupan aplikasi</a:t>
            </a:r>
            <a:endParaRPr lang="en-US" sz="2000" dirty="0"/>
          </a:p>
          <a:p>
            <a:pPr indent="0" marL="0">
              <a:buNone/>
            </a:pPr>
            <a:r>
              <a:rPr lang="en-US" sz="1500" dirty="0">
                <a:solidFill>
                  <a:schemeClr val="tx1"/>
                </a:solidFill>
              </a:rPr>
              <a:t>Dibangun dari kebutuhan rumah terapi</a:t>
            </a:r>
            <a:endParaRPr lang="en-US" sz="2000" dirty="0"/>
          </a:p>
        </p:txBody>
      </p:sp>
      <p:sp>
        <p:nvSpPr>
          <p:cNvPr id="6" name="agenda 2 nomor"/>
          <p:cNvSpPr/>
          <p:nvPr/>
        </p:nvSpPr>
        <p:spPr>
          <a:xfrm>
            <a:off x="548640" y="2350008"/>
            <a:ext cx="566928" cy="566928"/>
          </a:xfrm>
          <a:prstGeom prst="ellipse">
            <a:avLst/>
          </a:prstGeom>
          <a:solidFill>
            <a:schemeClr val="accent1"/>
          </a:solidFill>
          <a:ln w="12700">
            <a:solidFill>
              <a:schemeClr val="accent1"/>
            </a:solidFill>
            <a:prstDash val="solid"/>
          </a:ln>
        </p:spPr>
      </p:sp>
      <p:sp>
        <p:nvSpPr>
          <p:cNvPr id="7" name="agenda 2 angka"/>
          <p:cNvSpPr txBox="1"/>
          <p:nvPr/>
        </p:nvSpPr>
        <p:spPr>
          <a:xfrm>
            <a:off x="548640" y="23500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8" name="agenda 2 teks"/>
          <p:cNvSpPr txBox="1"/>
          <p:nvPr/>
        </p:nvSpPr>
        <p:spPr>
          <a:xfrm>
            <a:off x="1325880" y="2304288"/>
            <a:ext cx="5669280" cy="777240"/>
          </a:xfrm>
          <a:prstGeom prst="rect">
            <a:avLst/>
          </a:prstGeom>
          <a:noFill/>
          <a:ln/>
        </p:spPr>
        <p:txBody>
          <a:bodyPr wrap="square" lIns="0" tIns="0" rIns="0" bIns="0" rtlCol="0" anchor="t"/>
          <a:lstStyle/>
          <a:p>
            <a:pPr indent="0" marL="0">
              <a:buNone/>
            </a:pPr>
            <a:r>
              <a:rPr lang="en-US" sz="2000" b="1" dirty="0">
                <a:solidFill>
                  <a:schemeClr val="tx2"/>
                </a:solidFill>
              </a:rPr>
              <a:t>Alur layanan pasien</a:t>
            </a:r>
            <a:endParaRPr lang="en-US" sz="2000" dirty="0"/>
          </a:p>
          <a:p>
            <a:pPr indent="0" marL="0">
              <a:buNone/>
            </a:pPr>
            <a:r>
              <a:rPr lang="en-US" sz="1500" dirty="0">
                <a:solidFill>
                  <a:schemeClr val="tx1"/>
                </a:solidFill>
              </a:rPr>
              <a:t>Dari reservasi sampai kwitansi</a:t>
            </a:r>
            <a:endParaRPr lang="en-US" sz="2000" dirty="0"/>
          </a:p>
        </p:txBody>
      </p:sp>
      <p:sp>
        <p:nvSpPr>
          <p:cNvPr id="9" name="agenda 3 nomor"/>
          <p:cNvSpPr/>
          <p:nvPr/>
        </p:nvSpPr>
        <p:spPr>
          <a:xfrm>
            <a:off x="548640" y="3282696"/>
            <a:ext cx="566928" cy="566928"/>
          </a:xfrm>
          <a:prstGeom prst="ellipse">
            <a:avLst/>
          </a:prstGeom>
          <a:solidFill>
            <a:schemeClr val="accent1"/>
          </a:solidFill>
          <a:ln w="12700">
            <a:solidFill>
              <a:schemeClr val="accent1"/>
            </a:solidFill>
            <a:prstDash val="solid"/>
          </a:ln>
        </p:spPr>
      </p:sp>
      <p:sp>
        <p:nvSpPr>
          <p:cNvPr id="10" name="agenda 3 angka"/>
          <p:cNvSpPr txBox="1"/>
          <p:nvPr/>
        </p:nvSpPr>
        <p:spPr>
          <a:xfrm>
            <a:off x="548640" y="328269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1" name="agenda 3 teks"/>
          <p:cNvSpPr txBox="1"/>
          <p:nvPr/>
        </p:nvSpPr>
        <p:spPr>
          <a:xfrm>
            <a:off x="1325880" y="3236976"/>
            <a:ext cx="5669280" cy="777240"/>
          </a:xfrm>
          <a:prstGeom prst="rect">
            <a:avLst/>
          </a:prstGeom>
          <a:noFill/>
          <a:ln/>
        </p:spPr>
        <p:txBody>
          <a:bodyPr wrap="square" lIns="0" tIns="0" rIns="0" bIns="0" rtlCol="0" anchor="t"/>
          <a:lstStyle/>
          <a:p>
            <a:pPr indent="0" marL="0">
              <a:buNone/>
            </a:pPr>
            <a:r>
              <a:rPr lang="en-US" sz="2000" b="1" dirty="0">
                <a:solidFill>
                  <a:schemeClr val="tx2"/>
                </a:solidFill>
              </a:rPr>
              <a:t>Fitur utama</a:t>
            </a:r>
            <a:endParaRPr lang="en-US" sz="2000" dirty="0"/>
          </a:p>
          <a:p>
            <a:pPr indent="0" marL="0">
              <a:buNone/>
            </a:pPr>
            <a:r>
              <a:rPr lang="en-US" sz="1500" dirty="0">
                <a:solidFill>
                  <a:schemeClr val="tx1"/>
                </a:solidFill>
              </a:rPr>
              <a:t>Jadwal, terapi bertahap, kasir, laporan</a:t>
            </a:r>
            <a:endParaRPr lang="en-US" sz="2000" dirty="0"/>
          </a:p>
        </p:txBody>
      </p:sp>
      <p:sp>
        <p:nvSpPr>
          <p:cNvPr id="12" name="agenda 4 nomor"/>
          <p:cNvSpPr/>
          <p:nvPr/>
        </p:nvSpPr>
        <p:spPr>
          <a:xfrm>
            <a:off x="548640" y="4215384"/>
            <a:ext cx="566928" cy="566928"/>
          </a:xfrm>
          <a:prstGeom prst="ellipse">
            <a:avLst/>
          </a:prstGeom>
          <a:solidFill>
            <a:schemeClr val="accent1"/>
          </a:solidFill>
          <a:ln w="12700">
            <a:solidFill>
              <a:schemeClr val="accent1"/>
            </a:solidFill>
            <a:prstDash val="solid"/>
          </a:ln>
        </p:spPr>
      </p:sp>
      <p:sp>
        <p:nvSpPr>
          <p:cNvPr id="13" name="agenda 4 angka"/>
          <p:cNvSpPr txBox="1"/>
          <p:nvPr/>
        </p:nvSpPr>
        <p:spPr>
          <a:xfrm>
            <a:off x="548640" y="421538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14" name="agenda 4 teks"/>
          <p:cNvSpPr txBox="1"/>
          <p:nvPr/>
        </p:nvSpPr>
        <p:spPr>
          <a:xfrm>
            <a:off x="1325880" y="4169664"/>
            <a:ext cx="5669280" cy="777240"/>
          </a:xfrm>
          <a:prstGeom prst="rect">
            <a:avLst/>
          </a:prstGeom>
          <a:noFill/>
          <a:ln/>
        </p:spPr>
        <p:txBody>
          <a:bodyPr wrap="square" lIns="0" tIns="0" rIns="0" bIns="0" rtlCol="0" anchor="t"/>
          <a:lstStyle/>
          <a:p>
            <a:pPr indent="0" marL="0">
              <a:buNone/>
            </a:pPr>
            <a:r>
              <a:rPr lang="en-US" sz="2000" b="1" dirty="0">
                <a:solidFill>
                  <a:schemeClr val="tx2"/>
                </a:solidFill>
              </a:rPr>
              <a:t>Paket langganan &amp; referal</a:t>
            </a:r>
            <a:endParaRPr lang="en-US" sz="2000" dirty="0"/>
          </a:p>
          <a:p>
            <a:pPr indent="0" marL="0">
              <a:buNone/>
            </a:pPr>
            <a:r>
              <a:rPr lang="en-US" sz="1500" dirty="0">
                <a:solidFill>
                  <a:schemeClr val="tx1"/>
                </a:solidFill>
              </a:rPr>
              <a:t>Cara beli, perpanjang, dan ajak klinik lain</a:t>
            </a:r>
            <a:endParaRPr lang="en-US" sz="2000" dirty="0"/>
          </a:p>
        </p:txBody>
      </p:sp>
      <p:sp>
        <p:nvSpPr>
          <p:cNvPr id="15" name="agenda 5 nomor"/>
          <p:cNvSpPr/>
          <p:nvPr/>
        </p:nvSpPr>
        <p:spPr>
          <a:xfrm>
            <a:off x="548640" y="5148072"/>
            <a:ext cx="566928" cy="566928"/>
          </a:xfrm>
          <a:prstGeom prst="ellipse">
            <a:avLst/>
          </a:prstGeom>
          <a:solidFill>
            <a:schemeClr val="accent1"/>
          </a:solidFill>
          <a:ln w="12700">
            <a:solidFill>
              <a:schemeClr val="accent1"/>
            </a:solidFill>
            <a:prstDash val="solid"/>
          </a:ln>
        </p:spPr>
      </p:sp>
      <p:sp>
        <p:nvSpPr>
          <p:cNvPr id="16" name="agenda 5 angka"/>
          <p:cNvSpPr txBox="1"/>
          <p:nvPr/>
        </p:nvSpPr>
        <p:spPr>
          <a:xfrm>
            <a:off x="548640" y="51480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17" name="agenda 5 teks"/>
          <p:cNvSpPr txBox="1"/>
          <p:nvPr/>
        </p:nvSpPr>
        <p:spPr>
          <a:xfrm>
            <a:off x="1325880" y="5102352"/>
            <a:ext cx="5669280" cy="777240"/>
          </a:xfrm>
          <a:prstGeom prst="rect">
            <a:avLst/>
          </a:prstGeom>
          <a:noFill/>
          <a:ln/>
        </p:spPr>
        <p:txBody>
          <a:bodyPr wrap="square" lIns="0" tIns="0" rIns="0" bIns="0" rtlCol="0" anchor="t"/>
          <a:lstStyle/>
          <a:p>
            <a:pPr indent="0" marL="0">
              <a:buNone/>
            </a:pPr>
            <a:r>
              <a:rPr lang="en-US" sz="2000" b="1" dirty="0">
                <a:solidFill>
                  <a:schemeClr val="tx2"/>
                </a:solidFill>
              </a:rPr>
              <a:t>Cara mulai &amp; tanya jawab</a:t>
            </a:r>
            <a:endParaRPr lang="en-US" sz="2000" dirty="0"/>
          </a:p>
          <a:p>
            <a:pPr indent="0" marL="0">
              <a:buNone/>
            </a:pPr>
            <a:r>
              <a:rPr lang="en-US" sz="1500" dirty="0">
                <a:solidFill>
                  <a:schemeClr val="tx1"/>
                </a:solidFill>
              </a:rPr>
              <a:t>Langkah awal dan sesi diskusi</a:t>
            </a:r>
            <a:endParaRPr lang="en-US" sz="2000" dirty="0"/>
          </a:p>
        </p:txBody>
      </p:sp>
      <p:sp>
        <p:nvSpPr>
          <p:cNvPr id="18" name="kartu tata tertib"/>
          <p:cNvSpPr/>
          <p:nvPr/>
        </p:nvSpPr>
        <p:spPr>
          <a:xfrm>
            <a:off x="7498080" y="1417320"/>
            <a:ext cx="4114800" cy="4480560"/>
          </a:xfrm>
          <a:prstGeom prst="roundRect">
            <a:avLst>
              <a:gd name="adj" fmla="val 3333"/>
            </a:avLst>
          </a:prstGeom>
          <a:solidFill>
            <a:schemeClr val="bg2"/>
          </a:solidFill>
          <a:ln w="12700">
            <a:solidFill>
              <a:schemeClr val="bg2"/>
            </a:solidFill>
            <a:prstDash val="solid"/>
          </a:ln>
        </p:spPr>
      </p:sp>
      <p:sp>
        <p:nvSpPr>
          <p:cNvPr id="19" name="judul tata tertib"/>
          <p:cNvSpPr txBox="1"/>
          <p:nvPr/>
        </p:nvSpPr>
        <p:spPr>
          <a:xfrm>
            <a:off x="7818120" y="1645920"/>
            <a:ext cx="3566160" cy="457200"/>
          </a:xfrm>
          <a:prstGeom prst="rect">
            <a:avLst/>
          </a:prstGeom>
          <a:noFill/>
          <a:ln/>
        </p:spPr>
        <p:txBody>
          <a:bodyPr wrap="square" lIns="0" tIns="0" rIns="0" bIns="0" rtlCol="0" anchor="ctr"/>
          <a:lstStyle/>
          <a:p>
            <a:pPr indent="0" marL="0">
              <a:buNone/>
            </a:pPr>
            <a:r>
              <a:rPr lang="en-US" sz="2000" b="1" dirty="0">
                <a:solidFill>
                  <a:schemeClr val="tx2"/>
                </a:solidFill>
              </a:rPr>
              <a:t>Selama sesi Zoom</a:t>
            </a:r>
            <a:endParaRPr lang="en-US" sz="2000" dirty="0"/>
          </a:p>
        </p:txBody>
      </p:sp>
      <p:sp>
        <p:nvSpPr>
          <p:cNvPr id="20" name="tata tertib 1 lingkaran"/>
          <p:cNvSpPr/>
          <p:nvPr/>
        </p:nvSpPr>
        <p:spPr>
          <a:xfrm>
            <a:off x="7818120" y="2350008"/>
            <a:ext cx="566928" cy="566928"/>
          </a:xfrm>
          <a:prstGeom prst="ellipse">
            <a:avLst/>
          </a:prstGeom>
          <a:solidFill>
            <a:schemeClr val="accent1"/>
          </a:solidFill>
          <a:ln w="12700">
            <a:solidFill>
              <a:schemeClr val="accent1"/>
            </a:solidFill>
            <a:prstDash val="solid"/>
          </a:ln>
        </p:spPr>
      </p:sp>
      <p:pic>
        <p:nvPicPr>
          <p:cNvPr id="21" name="tata tertib 1" descr="tata tertib 1">    </p:cNvPr>
          <p:cNvPicPr>
            <a:picLocks noChangeAspect="1"/>
          </p:cNvPicPr>
          <p:nvPr/>
        </p:nvPicPr>
        <p:blipFill>
          <a:blip r:embed="rId1"/>
          <a:stretch>
            <a:fillRect/>
          </a:stretch>
        </p:blipFill>
        <p:spPr>
          <a:xfrm>
            <a:off x="7965521" y="2497409"/>
            <a:ext cx="272125" cy="272125"/>
          </a:xfrm>
          <a:prstGeom prst="rect">
            <a:avLst/>
          </a:prstGeom>
        </p:spPr>
      </p:pic>
      <p:sp>
        <p:nvSpPr>
          <p:cNvPr id="22" name="tata tertib 1 teks"/>
          <p:cNvSpPr txBox="1"/>
          <p:nvPr/>
        </p:nvSpPr>
        <p:spPr>
          <a:xfrm>
            <a:off x="8567928" y="2331720"/>
            <a:ext cx="2862072" cy="960120"/>
          </a:xfrm>
          <a:prstGeom prst="rect">
            <a:avLst/>
          </a:prstGeom>
          <a:noFill/>
          <a:ln/>
        </p:spPr>
        <p:txBody>
          <a:bodyPr wrap="square" lIns="0" tIns="0" rIns="0" bIns="0" rtlCol="0" anchor="t"/>
          <a:lstStyle/>
          <a:p>
            <a:pPr indent="0" marL="0">
              <a:buNone/>
            </a:pPr>
            <a:r>
              <a:rPr lang="en-US" sz="1800" b="1" dirty="0">
                <a:solidFill>
                  <a:schemeClr val="tx2"/>
                </a:solidFill>
              </a:rPr>
              <a:t>Matikan mikrofon</a:t>
            </a:r>
            <a:endParaRPr lang="en-US" sz="1800" dirty="0"/>
          </a:p>
          <a:p>
            <a:pPr indent="0" marL="0">
              <a:buNone/>
            </a:pPr>
            <a:r>
              <a:rPr lang="en-US" sz="1500" dirty="0">
                <a:solidFill>
                  <a:schemeClr val="tx1"/>
                </a:solidFill>
              </a:rPr>
              <a:t>saat paparan berlangsung</a:t>
            </a:r>
            <a:endParaRPr lang="en-US" sz="1800" dirty="0"/>
          </a:p>
        </p:txBody>
      </p:sp>
      <p:sp>
        <p:nvSpPr>
          <p:cNvPr id="23" name="tata tertib 2 lingkaran"/>
          <p:cNvSpPr/>
          <p:nvPr/>
        </p:nvSpPr>
        <p:spPr>
          <a:xfrm>
            <a:off x="7818120" y="3493008"/>
            <a:ext cx="566928" cy="566928"/>
          </a:xfrm>
          <a:prstGeom prst="ellipse">
            <a:avLst/>
          </a:prstGeom>
          <a:solidFill>
            <a:schemeClr val="accent1"/>
          </a:solidFill>
          <a:ln w="12700">
            <a:solidFill>
              <a:schemeClr val="accent1"/>
            </a:solidFill>
            <a:prstDash val="solid"/>
          </a:ln>
        </p:spPr>
      </p:sp>
      <p:pic>
        <p:nvPicPr>
          <p:cNvPr id="24" name="tata tertib 2" descr="tata tertib 2">    </p:cNvPr>
          <p:cNvPicPr>
            <a:picLocks noChangeAspect="1"/>
          </p:cNvPicPr>
          <p:nvPr/>
        </p:nvPicPr>
        <p:blipFill>
          <a:blip r:embed="rId2"/>
          <a:stretch>
            <a:fillRect/>
          </a:stretch>
        </p:blipFill>
        <p:spPr>
          <a:xfrm>
            <a:off x="7965521" y="3640409"/>
            <a:ext cx="272125" cy="272125"/>
          </a:xfrm>
          <a:prstGeom prst="rect">
            <a:avLst/>
          </a:prstGeom>
        </p:spPr>
      </p:pic>
      <p:sp>
        <p:nvSpPr>
          <p:cNvPr id="25" name="tata tertib 2 teks"/>
          <p:cNvSpPr txBox="1"/>
          <p:nvPr/>
        </p:nvSpPr>
        <p:spPr>
          <a:xfrm>
            <a:off x="8567928" y="3474720"/>
            <a:ext cx="2862072" cy="960120"/>
          </a:xfrm>
          <a:prstGeom prst="rect">
            <a:avLst/>
          </a:prstGeom>
          <a:noFill/>
          <a:ln/>
        </p:spPr>
        <p:txBody>
          <a:bodyPr wrap="square" lIns="0" tIns="0" rIns="0" bIns="0" rtlCol="0" anchor="t"/>
          <a:lstStyle/>
          <a:p>
            <a:pPr indent="0" marL="0">
              <a:buNone/>
            </a:pPr>
            <a:r>
              <a:rPr lang="en-US" sz="1800" b="1" dirty="0">
                <a:solidFill>
                  <a:schemeClr val="tx2"/>
                </a:solidFill>
              </a:rPr>
              <a:t>Tulis pertanyaan</a:t>
            </a:r>
            <a:endParaRPr lang="en-US" sz="1800" dirty="0"/>
          </a:p>
          <a:p>
            <a:pPr indent="0" marL="0">
              <a:buNone/>
            </a:pPr>
            <a:r>
              <a:rPr lang="en-US" sz="1500" dirty="0">
                <a:solidFill>
                  <a:schemeClr val="tx1"/>
                </a:solidFill>
              </a:rPr>
              <a:t>di kolom Chat kapan saja</a:t>
            </a:r>
            <a:endParaRPr lang="en-US" sz="1800" dirty="0"/>
          </a:p>
        </p:txBody>
      </p:sp>
      <p:sp>
        <p:nvSpPr>
          <p:cNvPr id="26" name="tata tertib 3 lingkaran"/>
          <p:cNvSpPr/>
          <p:nvPr/>
        </p:nvSpPr>
        <p:spPr>
          <a:xfrm>
            <a:off x="7818120" y="4636008"/>
            <a:ext cx="566928" cy="566928"/>
          </a:xfrm>
          <a:prstGeom prst="ellipse">
            <a:avLst/>
          </a:prstGeom>
          <a:solidFill>
            <a:schemeClr val="accent1"/>
          </a:solidFill>
          <a:ln w="12700">
            <a:solidFill>
              <a:schemeClr val="accent1"/>
            </a:solidFill>
            <a:prstDash val="solid"/>
          </a:ln>
        </p:spPr>
      </p:sp>
      <p:pic>
        <p:nvPicPr>
          <p:cNvPr id="27" name="tata tertib 3" descr="tata tertib 3">    </p:cNvPr>
          <p:cNvPicPr>
            <a:picLocks noChangeAspect="1"/>
          </p:cNvPicPr>
          <p:nvPr/>
        </p:nvPicPr>
        <p:blipFill>
          <a:blip r:embed="rId3"/>
          <a:stretch>
            <a:fillRect/>
          </a:stretch>
        </p:blipFill>
        <p:spPr>
          <a:xfrm>
            <a:off x="7965521" y="4783409"/>
            <a:ext cx="272125" cy="272125"/>
          </a:xfrm>
          <a:prstGeom prst="rect">
            <a:avLst/>
          </a:prstGeom>
        </p:spPr>
      </p:pic>
      <p:sp>
        <p:nvSpPr>
          <p:cNvPr id="28" name="tata tertib 3 teks"/>
          <p:cNvSpPr txBox="1"/>
          <p:nvPr/>
        </p:nvSpPr>
        <p:spPr>
          <a:xfrm>
            <a:off x="8567928" y="4617720"/>
            <a:ext cx="2862072" cy="960120"/>
          </a:xfrm>
          <a:prstGeom prst="rect">
            <a:avLst/>
          </a:prstGeom>
          <a:noFill/>
          <a:ln/>
        </p:spPr>
        <p:txBody>
          <a:bodyPr wrap="square" lIns="0" tIns="0" rIns="0" bIns="0" rtlCol="0" anchor="t"/>
          <a:lstStyle/>
          <a:p>
            <a:pPr indent="0" marL="0">
              <a:buNone/>
            </a:pPr>
            <a:r>
              <a:rPr lang="en-US" sz="1800" b="1" dirty="0">
                <a:solidFill>
                  <a:schemeClr val="tx2"/>
                </a:solidFill>
              </a:rPr>
              <a:t>Tanya jawab</a:t>
            </a:r>
            <a:endParaRPr lang="en-US" sz="1800" dirty="0"/>
          </a:p>
          <a:p>
            <a:pPr indent="0" marL="0">
              <a:buNone/>
            </a:pPr>
            <a:r>
              <a:rPr lang="en-US" sz="1500" dirty="0">
                <a:solidFill>
                  <a:schemeClr val="tx1"/>
                </a:solidFill>
              </a:rPr>
              <a:t>dibuka di akhir sesi</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Dibangun dari kebutuhan rumah terapi</a:t>
            </a:r>
            <a:endParaRPr lang="en-US" sz="3600" dirty="0"/>
          </a:p>
        </p:txBody>
      </p:sp>
      <p:sp>
        <p:nvSpPr>
          <p:cNvPr id="3" name="paragraf latar belakang"/>
          <p:cNvSpPr txBox="1"/>
          <p:nvPr/>
        </p:nvSpPr>
        <p:spPr>
          <a:xfrm>
            <a:off x="548640" y="1417320"/>
            <a:ext cx="6035040" cy="1280160"/>
          </a:xfrm>
          <a:prstGeom prst="rect">
            <a:avLst/>
          </a:prstGeom>
          <a:noFill/>
          <a:ln/>
        </p:spPr>
        <p:txBody>
          <a:bodyPr wrap="square" lIns="0" tIns="0" rIns="0" bIns="0" rtlCol="0" anchor="t"/>
          <a:lstStyle/>
          <a:p>
            <a:pPr indent="0" marL="0">
              <a:buNone/>
            </a:pPr>
            <a:r>
              <a:rPr lang="en-US" sz="1800" dirty="0">
                <a:solidFill>
                  <a:schemeClr val="tx1"/>
                </a:solidFill>
              </a:rPr>
              <a:t>Smart Clinic Therapy dikembangkan berdasarkan alur kerja nyata sebuah rumah terapi untuk cedera olahraga dan pemulihan fisik. Karena itu, menu dan fungsinya mengikuti cara kerja rumah terapi.</a:t>
            </a:r>
            <a:endParaRPr lang="en-US" sz="1800" dirty="0"/>
          </a:p>
        </p:txBody>
      </p:sp>
      <p:sp>
        <p:nvSpPr>
          <p:cNvPr id="4" name="basis 1 lingkaran"/>
          <p:cNvSpPr/>
          <p:nvPr/>
        </p:nvSpPr>
        <p:spPr>
          <a:xfrm>
            <a:off x="548640" y="2898648"/>
            <a:ext cx="566928" cy="566928"/>
          </a:xfrm>
          <a:prstGeom prst="ellipse">
            <a:avLst/>
          </a:prstGeom>
          <a:solidFill>
            <a:schemeClr val="accent1"/>
          </a:solidFill>
          <a:ln w="12700">
            <a:solidFill>
              <a:schemeClr val="accent1"/>
            </a:solidFill>
            <a:prstDash val="solid"/>
          </a:ln>
        </p:spPr>
      </p:sp>
      <p:pic>
        <p:nvPicPr>
          <p:cNvPr id="5" name="basis 1" descr="basis 1">    </p:cNvPr>
          <p:cNvPicPr>
            <a:picLocks noChangeAspect="1"/>
          </p:cNvPicPr>
          <p:nvPr/>
        </p:nvPicPr>
        <p:blipFill>
          <a:blip r:embed="rId1"/>
          <a:stretch>
            <a:fillRect/>
          </a:stretch>
        </p:blipFill>
        <p:spPr>
          <a:xfrm>
            <a:off x="696041" y="3046049"/>
            <a:ext cx="272125" cy="272125"/>
          </a:xfrm>
          <a:prstGeom prst="rect">
            <a:avLst/>
          </a:prstGeom>
        </p:spPr>
      </p:pic>
      <p:sp>
        <p:nvSpPr>
          <p:cNvPr id="6" name="basis 1 teks"/>
          <p:cNvSpPr txBox="1"/>
          <p:nvPr/>
        </p:nvSpPr>
        <p:spPr>
          <a:xfrm>
            <a:off x="1298448" y="2880360"/>
            <a:ext cx="5285232" cy="960120"/>
          </a:xfrm>
          <a:prstGeom prst="rect">
            <a:avLst/>
          </a:prstGeom>
          <a:noFill/>
          <a:ln/>
        </p:spPr>
        <p:txBody>
          <a:bodyPr wrap="square" lIns="0" tIns="0" rIns="0" bIns="0" rtlCol="0" anchor="t"/>
          <a:lstStyle/>
          <a:p>
            <a:pPr indent="0" marL="0">
              <a:buNone/>
            </a:pPr>
            <a:r>
              <a:rPr lang="en-US" sz="1800" b="1" dirty="0">
                <a:solidFill>
                  <a:schemeClr val="tx2"/>
                </a:solidFill>
              </a:rPr>
              <a:t>Reservasi &amp; jadwal terapis</a:t>
            </a:r>
            <a:endParaRPr lang="en-US" sz="1800" dirty="0"/>
          </a:p>
          <a:p>
            <a:pPr indent="0" marL="0">
              <a:buNone/>
            </a:pPr>
            <a:r>
              <a:rPr lang="en-US" sz="1500" dirty="0">
                <a:solidFill>
                  <a:schemeClr val="tx1"/>
                </a:solidFill>
              </a:rPr>
              <a:t>Pasien booking, jadwal terapis tidak boleh bentrok</a:t>
            </a:r>
            <a:endParaRPr lang="en-US" sz="1800" dirty="0"/>
          </a:p>
        </p:txBody>
      </p:sp>
      <p:sp>
        <p:nvSpPr>
          <p:cNvPr id="7" name="basis 2 lingkaran"/>
          <p:cNvSpPr/>
          <p:nvPr/>
        </p:nvSpPr>
        <p:spPr>
          <a:xfrm>
            <a:off x="548640" y="3950208"/>
            <a:ext cx="566928" cy="566928"/>
          </a:xfrm>
          <a:prstGeom prst="ellipse">
            <a:avLst/>
          </a:prstGeom>
          <a:solidFill>
            <a:schemeClr val="accent1"/>
          </a:solidFill>
          <a:ln w="12700">
            <a:solidFill>
              <a:schemeClr val="accent1"/>
            </a:solidFill>
            <a:prstDash val="solid"/>
          </a:ln>
        </p:spPr>
      </p:sp>
      <p:pic>
        <p:nvPicPr>
          <p:cNvPr id="8" name="basis 2" descr="basis 2">    </p:cNvPr>
          <p:cNvPicPr>
            <a:picLocks noChangeAspect="1"/>
          </p:cNvPicPr>
          <p:nvPr/>
        </p:nvPicPr>
        <p:blipFill>
          <a:blip r:embed="rId2"/>
          <a:stretch>
            <a:fillRect/>
          </a:stretch>
        </p:blipFill>
        <p:spPr>
          <a:xfrm>
            <a:off x="696041" y="4097609"/>
            <a:ext cx="272125" cy="272125"/>
          </a:xfrm>
          <a:prstGeom prst="rect">
            <a:avLst/>
          </a:prstGeom>
        </p:spPr>
      </p:pic>
      <p:sp>
        <p:nvSpPr>
          <p:cNvPr id="9" name="basis 2 teks"/>
          <p:cNvSpPr txBox="1"/>
          <p:nvPr/>
        </p:nvSpPr>
        <p:spPr>
          <a:xfrm>
            <a:off x="1298448" y="3931920"/>
            <a:ext cx="5285232" cy="960120"/>
          </a:xfrm>
          <a:prstGeom prst="rect">
            <a:avLst/>
          </a:prstGeom>
          <a:noFill/>
          <a:ln/>
        </p:spPr>
        <p:txBody>
          <a:bodyPr wrap="square" lIns="0" tIns="0" rIns="0" bIns="0" rtlCol="0" anchor="t"/>
          <a:lstStyle/>
          <a:p>
            <a:pPr indent="0" marL="0">
              <a:buNone/>
            </a:pPr>
            <a:r>
              <a:rPr lang="en-US" sz="1800" b="1" dirty="0">
                <a:solidFill>
                  <a:schemeClr val="tx2"/>
                </a:solidFill>
              </a:rPr>
              <a:t>Terapi bertahap (Tahap A–D)</a:t>
            </a:r>
            <a:endParaRPr lang="en-US" sz="1800" dirty="0"/>
          </a:p>
          <a:p>
            <a:pPr indent="0" marL="0">
              <a:buNone/>
            </a:pPr>
            <a:r>
              <a:rPr lang="en-US" sz="1500" dirty="0">
                <a:solidFill>
                  <a:schemeClr val="tx1"/>
                </a:solidFill>
              </a:rPr>
              <a:t>Setiap sesi dicatat tindakan dan evaluasinya</a:t>
            </a:r>
            <a:endParaRPr lang="en-US" sz="1800" dirty="0"/>
          </a:p>
        </p:txBody>
      </p:sp>
      <p:sp>
        <p:nvSpPr>
          <p:cNvPr id="10" name="basis 3 lingkaran"/>
          <p:cNvSpPr/>
          <p:nvPr/>
        </p:nvSpPr>
        <p:spPr>
          <a:xfrm>
            <a:off x="548640" y="5001768"/>
            <a:ext cx="566928" cy="566928"/>
          </a:xfrm>
          <a:prstGeom prst="ellipse">
            <a:avLst/>
          </a:prstGeom>
          <a:solidFill>
            <a:schemeClr val="accent1"/>
          </a:solidFill>
          <a:ln w="12700">
            <a:solidFill>
              <a:schemeClr val="accent1"/>
            </a:solidFill>
            <a:prstDash val="solid"/>
          </a:ln>
        </p:spPr>
      </p:sp>
      <p:pic>
        <p:nvPicPr>
          <p:cNvPr id="11" name="basis 3" descr="basis 3">    </p:cNvPr>
          <p:cNvPicPr>
            <a:picLocks noChangeAspect="1"/>
          </p:cNvPicPr>
          <p:nvPr/>
        </p:nvPicPr>
        <p:blipFill>
          <a:blip r:embed="rId3"/>
          <a:stretch>
            <a:fillRect/>
          </a:stretch>
        </p:blipFill>
        <p:spPr>
          <a:xfrm>
            <a:off x="696041" y="5149169"/>
            <a:ext cx="272125" cy="272125"/>
          </a:xfrm>
          <a:prstGeom prst="rect">
            <a:avLst/>
          </a:prstGeom>
        </p:spPr>
      </p:pic>
      <p:sp>
        <p:nvSpPr>
          <p:cNvPr id="12" name="basis 3 teks"/>
          <p:cNvSpPr txBox="1"/>
          <p:nvPr/>
        </p:nvSpPr>
        <p:spPr>
          <a:xfrm>
            <a:off x="1298448" y="4983480"/>
            <a:ext cx="5285232" cy="960120"/>
          </a:xfrm>
          <a:prstGeom prst="rect">
            <a:avLst/>
          </a:prstGeom>
          <a:noFill/>
          <a:ln/>
        </p:spPr>
        <p:txBody>
          <a:bodyPr wrap="square" lIns="0" tIns="0" rIns="0" bIns="0" rtlCol="0" anchor="t"/>
          <a:lstStyle/>
          <a:p>
            <a:pPr indent="0" marL="0">
              <a:buNone/>
            </a:pPr>
            <a:r>
              <a:rPr lang="en-US" sz="1800" b="1" dirty="0">
                <a:solidFill>
                  <a:schemeClr val="tx2"/>
                </a:solidFill>
              </a:rPr>
              <a:t>Kasir per reservasi</a:t>
            </a:r>
            <a:endParaRPr lang="en-US" sz="1800" dirty="0"/>
          </a:p>
          <a:p>
            <a:pPr indent="0" marL="0">
              <a:buNone/>
            </a:pPr>
            <a:r>
              <a:rPr lang="en-US" sz="1500" dirty="0">
                <a:solidFill>
                  <a:schemeClr val="tx1"/>
                </a:solidFill>
              </a:rPr>
              <a:t>Tagihan dihitung dari tarif tiap tahap terapi</a:t>
            </a:r>
            <a:endParaRPr lang="en-US" sz="1800" dirty="0"/>
          </a:p>
        </p:txBody>
      </p:sp>
      <p:sp>
        <p:nvSpPr>
          <p:cNvPr id="13" name="kartu basis"/>
          <p:cNvSpPr/>
          <p:nvPr/>
        </p:nvSpPr>
        <p:spPr>
          <a:xfrm>
            <a:off x="7223760" y="1417320"/>
            <a:ext cx="4389120" cy="4526280"/>
          </a:xfrm>
          <a:prstGeom prst="roundRect">
            <a:avLst>
              <a:gd name="adj" fmla="val 4167"/>
            </a:avLst>
          </a:prstGeom>
          <a:solidFill>
            <a:schemeClr val="tx2"/>
          </a:solidFill>
          <a:ln w="12700">
            <a:solidFill>
              <a:schemeClr val="tx2"/>
            </a:solidFill>
            <a:prstDash val="solid"/>
          </a:ln>
        </p:spPr>
      </p:sp>
      <p:sp>
        <p:nvSpPr>
          <p:cNvPr id="14" name="ikon rumah terapi lingkaran"/>
          <p:cNvSpPr/>
          <p:nvPr/>
        </p:nvSpPr>
        <p:spPr>
          <a:xfrm>
            <a:off x="8869680" y="2240280"/>
            <a:ext cx="1097280" cy="1097280"/>
          </a:xfrm>
          <a:prstGeom prst="ellipse">
            <a:avLst/>
          </a:prstGeom>
          <a:solidFill>
            <a:schemeClr val="accent2"/>
          </a:solidFill>
          <a:ln w="12700">
            <a:solidFill>
              <a:schemeClr val="accent2"/>
            </a:solidFill>
            <a:prstDash val="solid"/>
          </a:ln>
        </p:spPr>
      </p:sp>
      <p:pic>
        <p:nvPicPr>
          <p:cNvPr id="15" name="ikon rumah terapi" descr="ikon rumah terapi">    </p:cNvPr>
          <p:cNvPicPr>
            <a:picLocks noChangeAspect="1"/>
          </p:cNvPicPr>
          <p:nvPr/>
        </p:nvPicPr>
        <p:blipFill>
          <a:blip r:embed="rId4"/>
          <a:stretch>
            <a:fillRect/>
          </a:stretch>
        </p:blipFill>
        <p:spPr>
          <a:xfrm>
            <a:off x="9154973" y="2525573"/>
            <a:ext cx="526694" cy="526694"/>
          </a:xfrm>
          <a:prstGeom prst="rect">
            <a:avLst/>
          </a:prstGeom>
        </p:spPr>
      </p:pic>
      <p:sp>
        <p:nvSpPr>
          <p:cNvPr id="16" name="teks basis"/>
          <p:cNvSpPr txBox="1"/>
          <p:nvPr/>
        </p:nvSpPr>
        <p:spPr>
          <a:xfrm>
            <a:off x="7498080" y="3566160"/>
            <a:ext cx="3840480" cy="2011680"/>
          </a:xfrm>
          <a:prstGeom prst="rect">
            <a:avLst/>
          </a:prstGeom>
          <a:noFill/>
          <a:ln/>
        </p:spPr>
        <p:txBody>
          <a:bodyPr wrap="square" lIns="0" tIns="0" rIns="0" bIns="0" rtlCol="0" anchor="t"/>
          <a:lstStyle/>
          <a:p>
            <a:pPr algn="ctr" indent="0" marL="0">
              <a:buNone/>
            </a:pPr>
            <a:r>
              <a:rPr lang="en-US" sz="1600" dirty="0">
                <a:solidFill>
                  <a:srgbClr val="CDE7E6"/>
                </a:solidFill>
              </a:rPr>
              <a:t>Basis pengembangan</a:t>
            </a:r>
            <a:endParaRPr lang="en-US" sz="1600" dirty="0"/>
          </a:p>
          <a:p>
            <a:pPr algn="ctr" indent="0" marL="0">
              <a:buNone/>
            </a:pPr>
            <a:r>
              <a:rPr lang="en-US" sz="3600" b="1" dirty="0">
                <a:solidFill>
                  <a:srgbClr val="FFFFFF"/>
                </a:solidFill>
              </a:rPr>
              <a:t>Rumah Terapi</a:t>
            </a:r>
            <a:endParaRPr lang="en-US" sz="1600" dirty="0"/>
          </a:p>
          <a:p>
            <a:pPr algn="ctr" indent="0" marL="0">
              <a:buNone/>
            </a:pPr>
            <a:r>
              <a:rPr lang="en-US" sz="1600" dirty="0">
                <a:solidFill>
                  <a:srgbClr val="CDE7E6"/>
                </a:solidFill>
              </a:rPr>
              <a:t>Sport therapy &amp; rehabilitasi cedera olahraga</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Cocok untuk siapa?</a:t>
            </a:r>
            <a:endParaRPr lang="en-US" sz="3600" dirty="0"/>
          </a:p>
        </p:txBody>
      </p:sp>
      <p:sp>
        <p:nvSpPr>
          <p:cNvPr id="3" name="kartu Paling sesuai"/>
          <p:cNvSpPr/>
          <p:nvPr/>
        </p:nvSpPr>
        <p:spPr>
          <a:xfrm>
            <a:off x="548640" y="1417320"/>
            <a:ext cx="5394960" cy="2971800"/>
          </a:xfrm>
          <a:prstGeom prst="roundRect">
            <a:avLst>
              <a:gd name="adj" fmla="val 4615"/>
            </a:avLst>
          </a:prstGeom>
          <a:solidFill>
            <a:schemeClr val="bg2"/>
          </a:solidFill>
          <a:ln w="12700">
            <a:solidFill>
              <a:schemeClr val="bg2"/>
            </a:solidFill>
            <a:prstDash val="solid"/>
          </a:ln>
        </p:spPr>
      </p:sp>
      <p:sp>
        <p:nvSpPr>
          <p:cNvPr id="4" name="ikon Paling sesuai lingkaran"/>
          <p:cNvSpPr/>
          <p:nvPr/>
        </p:nvSpPr>
        <p:spPr>
          <a:xfrm>
            <a:off x="868680" y="1645920"/>
            <a:ext cx="594360" cy="594360"/>
          </a:xfrm>
          <a:prstGeom prst="ellipse">
            <a:avLst/>
          </a:prstGeom>
          <a:solidFill>
            <a:schemeClr val="accent1"/>
          </a:solidFill>
          <a:ln w="12700">
            <a:solidFill>
              <a:schemeClr val="accent1"/>
            </a:solidFill>
            <a:prstDash val="solid"/>
          </a:ln>
        </p:spPr>
      </p:sp>
      <p:pic>
        <p:nvPicPr>
          <p:cNvPr id="5" name="ikon Paling sesuai" descr="ikon Paling sesuai">    </p:cNvPr>
          <p:cNvPicPr>
            <a:picLocks noChangeAspect="1"/>
          </p:cNvPicPr>
          <p:nvPr/>
        </p:nvPicPr>
        <p:blipFill>
          <a:blip r:embed="rId1"/>
          <a:stretch>
            <a:fillRect/>
          </a:stretch>
        </p:blipFill>
        <p:spPr>
          <a:xfrm>
            <a:off x="1023214" y="1800454"/>
            <a:ext cx="285293" cy="285293"/>
          </a:xfrm>
          <a:prstGeom prst="rect">
            <a:avLst/>
          </a:prstGeom>
        </p:spPr>
      </p:pic>
      <p:sp>
        <p:nvSpPr>
          <p:cNvPr id="6" name="judul Paling sesuai"/>
          <p:cNvSpPr txBox="1"/>
          <p:nvPr/>
        </p:nvSpPr>
        <p:spPr>
          <a:xfrm>
            <a:off x="1645920" y="1645920"/>
            <a:ext cx="4114800" cy="594360"/>
          </a:xfrm>
          <a:prstGeom prst="rect">
            <a:avLst/>
          </a:prstGeom>
          <a:noFill/>
          <a:ln/>
        </p:spPr>
        <p:txBody>
          <a:bodyPr wrap="square" lIns="0" tIns="0" rIns="0" bIns="0" rtlCol="0" anchor="ctr"/>
          <a:lstStyle/>
          <a:p>
            <a:pPr indent="0" marL="0">
              <a:buNone/>
            </a:pPr>
            <a:r>
              <a:rPr lang="en-US" sz="2200" b="1" dirty="0">
                <a:solidFill>
                  <a:schemeClr val="tx2"/>
                </a:solidFill>
              </a:rPr>
              <a:t>Paling sesuai</a:t>
            </a:r>
            <a:endParaRPr lang="en-US" sz="2200" dirty="0"/>
          </a:p>
        </p:txBody>
      </p:sp>
      <p:sp>
        <p:nvSpPr>
          <p:cNvPr id="7" name="daftar Paling sesuai"/>
          <p:cNvSpPr txBox="1"/>
          <p:nvPr/>
        </p:nvSpPr>
        <p:spPr>
          <a:xfrm>
            <a:off x="868680" y="24231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Rumah terapi &amp; sport therapy</a:t>
            </a:r>
            <a:endParaRPr lang="en-US" sz="1800" dirty="0"/>
          </a:p>
          <a:p>
            <a:pPr marL="342900" indent="-342900">
              <a:spcAft>
                <a:spcPts val="800"/>
              </a:spcAft>
              <a:buSzPct val="100000"/>
              <a:buChar char="•"/>
            </a:pPr>
            <a:r>
              <a:rPr lang="en-US" sz="1800" dirty="0">
                <a:solidFill>
                  <a:schemeClr val="tx1"/>
                </a:solidFill>
              </a:rPr>
              <a:t>Klinik fisioterapi &amp; rehabilitasi cedera</a:t>
            </a:r>
            <a:endParaRPr lang="en-US" sz="1800" dirty="0"/>
          </a:p>
          <a:p>
            <a:pPr marL="342900" indent="-342900">
              <a:spcAft>
                <a:spcPts val="800"/>
              </a:spcAft>
              <a:buSzPct val="100000"/>
              <a:buChar char="•"/>
            </a:pPr>
            <a:r>
              <a:rPr lang="en-US" sz="1800" dirty="0">
                <a:solidFill>
                  <a:schemeClr val="tx1"/>
                </a:solidFill>
              </a:rPr>
              <a:t>Praktik terapis mandiri</a:t>
            </a:r>
            <a:endParaRPr lang="en-US" sz="1800" dirty="0"/>
          </a:p>
          <a:p>
            <a:pPr marL="342900" indent="-342900">
              <a:spcAft>
                <a:spcPts val="800"/>
              </a:spcAft>
              <a:buSzPct val="100000"/>
              <a:buChar char="•"/>
            </a:pPr>
            <a:r>
              <a:rPr lang="en-US" sz="1800" dirty="0">
                <a:solidFill>
                  <a:schemeClr val="tx1"/>
                </a:solidFill>
              </a:rPr>
              <a:t>Pusat pemulihan fisik olahraga</a:t>
            </a:r>
            <a:endParaRPr lang="en-US" sz="1800" dirty="0"/>
          </a:p>
        </p:txBody>
      </p:sp>
      <p:sp>
        <p:nvSpPr>
          <p:cNvPr id="8" name="kartu Kemungkinan kurang sesuai"/>
          <p:cNvSpPr/>
          <p:nvPr/>
        </p:nvSpPr>
        <p:spPr>
          <a:xfrm>
            <a:off x="6217920" y="1417320"/>
            <a:ext cx="5394960" cy="2971800"/>
          </a:xfrm>
          <a:prstGeom prst="roundRect">
            <a:avLst>
              <a:gd name="adj" fmla="val 4615"/>
            </a:avLst>
          </a:prstGeom>
          <a:solidFill>
            <a:schemeClr val="bg2"/>
          </a:solidFill>
          <a:ln w="12700">
            <a:solidFill>
              <a:schemeClr val="bg2"/>
            </a:solidFill>
            <a:prstDash val="solid"/>
          </a:ln>
        </p:spPr>
      </p:sp>
      <p:sp>
        <p:nvSpPr>
          <p:cNvPr id="9" name="ikon Kemungkinan kurang sesuai lingkaran"/>
          <p:cNvSpPr/>
          <p:nvPr/>
        </p:nvSpPr>
        <p:spPr>
          <a:xfrm>
            <a:off x="6537960" y="1645920"/>
            <a:ext cx="594360" cy="594360"/>
          </a:xfrm>
          <a:prstGeom prst="ellipse">
            <a:avLst/>
          </a:prstGeom>
          <a:solidFill>
            <a:schemeClr val="accent4"/>
          </a:solidFill>
          <a:ln w="12700">
            <a:solidFill>
              <a:schemeClr val="accent4"/>
            </a:solidFill>
            <a:prstDash val="solid"/>
          </a:ln>
        </p:spPr>
      </p:sp>
      <p:pic>
        <p:nvPicPr>
          <p:cNvPr id="10" name="ikon Kemungkinan kurang sesuai" descr="ikon Kemungkinan kurang sesuai">    </p:cNvPr>
          <p:cNvPicPr>
            <a:picLocks noChangeAspect="1"/>
          </p:cNvPicPr>
          <p:nvPr/>
        </p:nvPicPr>
        <p:blipFill>
          <a:blip r:embed="rId2"/>
          <a:stretch>
            <a:fillRect/>
          </a:stretch>
        </p:blipFill>
        <p:spPr>
          <a:xfrm>
            <a:off x="6692494" y="1800454"/>
            <a:ext cx="285293" cy="285293"/>
          </a:xfrm>
          <a:prstGeom prst="rect">
            <a:avLst/>
          </a:prstGeom>
        </p:spPr>
      </p:pic>
      <p:sp>
        <p:nvSpPr>
          <p:cNvPr id="11" name="judul Kemungkinan kurang sesuai"/>
          <p:cNvSpPr txBox="1"/>
          <p:nvPr/>
        </p:nvSpPr>
        <p:spPr>
          <a:xfrm>
            <a:off x="7315200" y="1645920"/>
            <a:ext cx="4114800" cy="594360"/>
          </a:xfrm>
          <a:prstGeom prst="rect">
            <a:avLst/>
          </a:prstGeom>
          <a:noFill/>
          <a:ln/>
        </p:spPr>
        <p:txBody>
          <a:bodyPr wrap="square" lIns="0" tIns="0" rIns="0" bIns="0" rtlCol="0" anchor="ctr"/>
          <a:lstStyle/>
          <a:p>
            <a:pPr indent="0" marL="0">
              <a:buNone/>
            </a:pPr>
            <a:r>
              <a:rPr lang="en-US" sz="2200" b="1" dirty="0">
                <a:solidFill>
                  <a:schemeClr val="tx2"/>
                </a:solidFill>
              </a:rPr>
              <a:t>Kemungkinan kurang sesuai</a:t>
            </a:r>
            <a:endParaRPr lang="en-US" sz="2200" dirty="0"/>
          </a:p>
        </p:txBody>
      </p:sp>
      <p:sp>
        <p:nvSpPr>
          <p:cNvPr id="12" name="daftar Kemungkinan kurang sesuai"/>
          <p:cNvSpPr txBox="1"/>
          <p:nvPr/>
        </p:nvSpPr>
        <p:spPr>
          <a:xfrm>
            <a:off x="6537960" y="24231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Klinik umum dengan poli &amp; dokter</a:t>
            </a:r>
            <a:endParaRPr lang="en-US" sz="1800" dirty="0"/>
          </a:p>
          <a:p>
            <a:pPr marL="342900" indent="-342900">
              <a:spcAft>
                <a:spcPts val="800"/>
              </a:spcAft>
              <a:buSzPct val="100000"/>
              <a:buChar char="•"/>
            </a:pPr>
            <a:r>
              <a:rPr lang="en-US" sz="1800" dirty="0">
                <a:solidFill>
                  <a:schemeClr val="tx1"/>
                </a:solidFill>
              </a:rPr>
              <a:t>Rumah sakit (rawat inap, farmasi, IGD)</a:t>
            </a:r>
            <a:endParaRPr lang="en-US" sz="1800" dirty="0"/>
          </a:p>
          <a:p>
            <a:pPr marL="342900" indent="-342900">
              <a:spcAft>
                <a:spcPts val="800"/>
              </a:spcAft>
              <a:buSzPct val="100000"/>
              <a:buChar char="•"/>
            </a:pPr>
            <a:r>
              <a:rPr lang="en-US" sz="1800" dirty="0">
                <a:solidFill>
                  <a:schemeClr val="tx1"/>
                </a:solidFill>
              </a:rPr>
              <a:t>Layanan yang butuh integrasi BPJS</a:t>
            </a:r>
            <a:endParaRPr lang="en-US" sz="1800" dirty="0"/>
          </a:p>
          <a:p>
            <a:pPr marL="342900" indent="-342900">
              <a:spcAft>
                <a:spcPts val="800"/>
              </a:spcAft>
              <a:buSzPct val="100000"/>
              <a:buChar char="•"/>
            </a:pPr>
            <a:r>
              <a:rPr lang="en-US" sz="1800" dirty="0">
                <a:solidFill>
                  <a:schemeClr val="tx1"/>
                </a:solidFill>
              </a:rPr>
              <a:t>Rekam medis umum (diagnosis ICD, resep)</a:t>
            </a:r>
            <a:endParaRPr lang="en-US" sz="1800" dirty="0"/>
          </a:p>
        </p:txBody>
      </p:sp>
      <p:sp>
        <p:nvSpPr>
          <p:cNvPr id="13" name="kartu catatan aplikasi terpisah"/>
          <p:cNvSpPr/>
          <p:nvPr/>
        </p:nvSpPr>
        <p:spPr>
          <a:xfrm>
            <a:off x="548640" y="4663440"/>
            <a:ext cx="11064240" cy="1051560"/>
          </a:xfrm>
          <a:prstGeom prst="roundRect">
            <a:avLst>
              <a:gd name="adj" fmla="val 13043"/>
            </a:avLst>
          </a:prstGeom>
          <a:solidFill>
            <a:schemeClr val="accent2">
              <a:alpha val="15000"/>
            </a:schemeClr>
          </a:solidFill>
          <a:ln w="12700">
            <a:solidFill>
              <a:schemeClr val="accent2">
                <a:alpha val="15000"/>
              </a:schemeClr>
            </a:solidFill>
            <a:prstDash val="solid"/>
          </a:ln>
        </p:spPr>
      </p:sp>
      <p:sp>
        <p:nvSpPr>
          <p:cNvPr id="14" name="ikon rumah sakit lingkaran"/>
          <p:cNvSpPr/>
          <p:nvPr/>
        </p:nvSpPr>
        <p:spPr>
          <a:xfrm>
            <a:off x="777240" y="4873752"/>
            <a:ext cx="640080" cy="640080"/>
          </a:xfrm>
          <a:prstGeom prst="ellipse">
            <a:avLst/>
          </a:prstGeom>
          <a:solidFill>
            <a:schemeClr val="accent2"/>
          </a:solidFill>
          <a:ln w="12700">
            <a:solidFill>
              <a:schemeClr val="accent2"/>
            </a:solidFill>
            <a:prstDash val="solid"/>
          </a:ln>
        </p:spPr>
      </p:sp>
      <p:pic>
        <p:nvPicPr>
          <p:cNvPr id="15" name="ikon rumah sakit" descr="ikon rumah sakit">    </p:cNvPr>
          <p:cNvPicPr>
            <a:picLocks noChangeAspect="1"/>
          </p:cNvPicPr>
          <p:nvPr/>
        </p:nvPicPr>
        <p:blipFill>
          <a:blip r:embed="rId3"/>
          <a:stretch>
            <a:fillRect/>
          </a:stretch>
        </p:blipFill>
        <p:spPr>
          <a:xfrm>
            <a:off x="943661" y="5040173"/>
            <a:ext cx="307238" cy="307238"/>
          </a:xfrm>
          <a:prstGeom prst="rect">
            <a:avLst/>
          </a:prstGeom>
        </p:spPr>
      </p:pic>
      <p:sp>
        <p:nvSpPr>
          <p:cNvPr id="16" name="teks aplikasi terpisah"/>
          <p:cNvSpPr txBox="1"/>
          <p:nvPr/>
        </p:nvSpPr>
        <p:spPr>
          <a:xfrm>
            <a:off x="1645920" y="4754880"/>
            <a:ext cx="9784080" cy="868680"/>
          </a:xfrm>
          <a:prstGeom prst="rect">
            <a:avLst/>
          </a:prstGeom>
          <a:noFill/>
          <a:ln/>
        </p:spPr>
        <p:txBody>
          <a:bodyPr wrap="square" lIns="0" tIns="0" rIns="0" bIns="0" rtlCol="0" anchor="ctr"/>
          <a:lstStyle/>
          <a:p>
            <a:pPr indent="0" marL="0">
              <a:buNone/>
            </a:pPr>
            <a:r>
              <a:rPr lang="en-US" sz="1800" b="1" dirty="0">
                <a:solidFill>
                  <a:schemeClr val="tx1"/>
                </a:solidFill>
              </a:rPr>
              <a:t>Klinik umum seperti rumah sakit memakai aplikasi terpisah. </a:t>
            </a:r>
            <a:pPr indent="0" marL="0">
              <a:buNone/>
            </a:pPr>
            <a:r>
              <a:rPr lang="en-US" sz="1800" dirty="0">
                <a:solidFill>
                  <a:schemeClr val="tx1"/>
                </a:solidFill>
              </a:rPr>
              <a:t>Dibahas di luar topik sesi ini.</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Alur layanan pasien dalam 6 langkah</a:t>
            </a:r>
            <a:endParaRPr lang="en-US" sz="3600" dirty="0"/>
          </a:p>
        </p:txBody>
      </p:sp>
      <p:sp>
        <p:nvSpPr>
          <p:cNvPr id="3" name="langkah 1 lingkaran"/>
          <p:cNvSpPr/>
          <p:nvPr/>
        </p:nvSpPr>
        <p:spPr>
          <a:xfrm>
            <a:off x="868680" y="1920240"/>
            <a:ext cx="1188720" cy="1188720"/>
          </a:xfrm>
          <a:prstGeom prst="ellipse">
            <a:avLst/>
          </a:prstGeom>
          <a:solidFill>
            <a:schemeClr val="accent1"/>
          </a:solidFill>
          <a:ln w="12700">
            <a:solidFill>
              <a:schemeClr val="accent1"/>
            </a:solidFill>
            <a:prstDash val="solid"/>
          </a:ln>
        </p:spPr>
      </p:sp>
      <p:pic>
        <p:nvPicPr>
          <p:cNvPr id="4" name="langkah 1" descr="langkah 1">    </p:cNvPr>
          <p:cNvPicPr>
            <a:picLocks noChangeAspect="1"/>
          </p:cNvPicPr>
          <p:nvPr/>
        </p:nvPicPr>
        <p:blipFill>
          <a:blip r:embed="rId1"/>
          <a:stretch>
            <a:fillRect/>
          </a:stretch>
        </p:blipFill>
        <p:spPr>
          <a:xfrm>
            <a:off x="1177747" y="2229307"/>
            <a:ext cx="570586" cy="570586"/>
          </a:xfrm>
          <a:prstGeom prst="rect">
            <a:avLst/>
          </a:prstGeom>
        </p:spPr>
      </p:pic>
      <p:sp>
        <p:nvSpPr>
          <p:cNvPr id="5" name="nomor langkah 1"/>
          <p:cNvSpPr/>
          <p:nvPr/>
        </p:nvSpPr>
        <p:spPr>
          <a:xfrm>
            <a:off x="1691640" y="1783080"/>
            <a:ext cx="457200" cy="457200"/>
          </a:xfrm>
          <a:prstGeom prst="ellipse">
            <a:avLst/>
          </a:prstGeom>
          <a:solidFill>
            <a:schemeClr val="accent2"/>
          </a:solidFill>
          <a:ln w="25400">
            <a:solidFill>
              <a:srgbClr val="FFFFFF"/>
            </a:solidFill>
            <a:prstDash val="solid"/>
          </a:ln>
        </p:spPr>
      </p:sp>
      <p:sp>
        <p:nvSpPr>
          <p:cNvPr id="6" name="angka langkah 1"/>
          <p:cNvSpPr txBox="1"/>
          <p:nvPr/>
        </p:nvSpPr>
        <p:spPr>
          <a:xfrm>
            <a:off x="16916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label langkah 1"/>
          <p:cNvSpPr txBox="1"/>
          <p:nvPr/>
        </p:nvSpPr>
        <p:spPr>
          <a:xfrm>
            <a:off x="5486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Daftarkan pasien</a:t>
            </a:r>
            <a:endParaRPr lang="en-US" sz="1800" dirty="0"/>
          </a:p>
        </p:txBody>
      </p:sp>
      <p:pic>
        <p:nvPicPr>
          <p:cNvPr id="8" name="panah 1" descr="panah">    </p:cNvPr>
          <p:cNvPicPr>
            <a:picLocks noChangeAspect="1"/>
          </p:cNvPicPr>
          <p:nvPr/>
        </p:nvPicPr>
        <p:blipFill>
          <a:blip r:embed="rId2"/>
          <a:stretch>
            <a:fillRect/>
          </a:stretch>
        </p:blipFill>
        <p:spPr>
          <a:xfrm>
            <a:off x="2221992" y="2377440"/>
            <a:ext cx="274320" cy="274320"/>
          </a:xfrm>
          <a:prstGeom prst="rect">
            <a:avLst/>
          </a:prstGeom>
        </p:spPr>
      </p:pic>
      <p:sp>
        <p:nvSpPr>
          <p:cNvPr id="9" name="langkah 2 lingkaran"/>
          <p:cNvSpPr/>
          <p:nvPr/>
        </p:nvSpPr>
        <p:spPr>
          <a:xfrm>
            <a:off x="2697480" y="1920240"/>
            <a:ext cx="1188720" cy="1188720"/>
          </a:xfrm>
          <a:prstGeom prst="ellipse">
            <a:avLst/>
          </a:prstGeom>
          <a:solidFill>
            <a:schemeClr val="accent1"/>
          </a:solidFill>
          <a:ln w="12700">
            <a:solidFill>
              <a:schemeClr val="accent1"/>
            </a:solidFill>
            <a:prstDash val="solid"/>
          </a:ln>
        </p:spPr>
      </p:sp>
      <p:pic>
        <p:nvPicPr>
          <p:cNvPr id="10" name="langkah 2" descr="langkah 2">    </p:cNvPr>
          <p:cNvPicPr>
            <a:picLocks noChangeAspect="1"/>
          </p:cNvPicPr>
          <p:nvPr/>
        </p:nvPicPr>
        <p:blipFill>
          <a:blip r:embed="rId3"/>
          <a:stretch>
            <a:fillRect/>
          </a:stretch>
        </p:blipFill>
        <p:spPr>
          <a:xfrm>
            <a:off x="3006547" y="2229307"/>
            <a:ext cx="570586" cy="570586"/>
          </a:xfrm>
          <a:prstGeom prst="rect">
            <a:avLst/>
          </a:prstGeom>
        </p:spPr>
      </p:pic>
      <p:sp>
        <p:nvSpPr>
          <p:cNvPr id="11" name="nomor langkah 2"/>
          <p:cNvSpPr/>
          <p:nvPr/>
        </p:nvSpPr>
        <p:spPr>
          <a:xfrm>
            <a:off x="3520440" y="1783080"/>
            <a:ext cx="457200" cy="457200"/>
          </a:xfrm>
          <a:prstGeom prst="ellipse">
            <a:avLst/>
          </a:prstGeom>
          <a:solidFill>
            <a:schemeClr val="accent2"/>
          </a:solidFill>
          <a:ln w="25400">
            <a:solidFill>
              <a:srgbClr val="FFFFFF"/>
            </a:solidFill>
            <a:prstDash val="solid"/>
          </a:ln>
        </p:spPr>
      </p:sp>
      <p:sp>
        <p:nvSpPr>
          <p:cNvPr id="12" name="angka langkah 2"/>
          <p:cNvSpPr txBox="1"/>
          <p:nvPr/>
        </p:nvSpPr>
        <p:spPr>
          <a:xfrm>
            <a:off x="35204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label langkah 2"/>
          <p:cNvSpPr txBox="1"/>
          <p:nvPr/>
        </p:nvSpPr>
        <p:spPr>
          <a:xfrm>
            <a:off x="23774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Buat reservasi</a:t>
            </a:r>
            <a:endParaRPr lang="en-US" sz="1800" dirty="0"/>
          </a:p>
        </p:txBody>
      </p:sp>
      <p:pic>
        <p:nvPicPr>
          <p:cNvPr id="14" name="panah 2" descr="panah">    </p:cNvPr>
          <p:cNvPicPr>
            <a:picLocks noChangeAspect="1"/>
          </p:cNvPicPr>
          <p:nvPr/>
        </p:nvPicPr>
        <p:blipFill>
          <a:blip r:embed="rId4"/>
          <a:stretch>
            <a:fillRect/>
          </a:stretch>
        </p:blipFill>
        <p:spPr>
          <a:xfrm>
            <a:off x="4050792" y="2377440"/>
            <a:ext cx="274320" cy="274320"/>
          </a:xfrm>
          <a:prstGeom prst="rect">
            <a:avLst/>
          </a:prstGeom>
        </p:spPr>
      </p:pic>
      <p:sp>
        <p:nvSpPr>
          <p:cNvPr id="15" name="langkah 3 lingkaran"/>
          <p:cNvSpPr/>
          <p:nvPr/>
        </p:nvSpPr>
        <p:spPr>
          <a:xfrm>
            <a:off x="4526280" y="1920240"/>
            <a:ext cx="1188720" cy="1188720"/>
          </a:xfrm>
          <a:prstGeom prst="ellipse">
            <a:avLst/>
          </a:prstGeom>
          <a:solidFill>
            <a:schemeClr val="accent1"/>
          </a:solidFill>
          <a:ln w="12700">
            <a:solidFill>
              <a:schemeClr val="accent1"/>
            </a:solidFill>
            <a:prstDash val="solid"/>
          </a:ln>
        </p:spPr>
      </p:sp>
      <p:pic>
        <p:nvPicPr>
          <p:cNvPr id="16" name="langkah 3" descr="langkah 3">    </p:cNvPr>
          <p:cNvPicPr>
            <a:picLocks noChangeAspect="1"/>
          </p:cNvPicPr>
          <p:nvPr/>
        </p:nvPicPr>
        <p:blipFill>
          <a:blip r:embed="rId5"/>
          <a:stretch>
            <a:fillRect/>
          </a:stretch>
        </p:blipFill>
        <p:spPr>
          <a:xfrm>
            <a:off x="4835347" y="2229307"/>
            <a:ext cx="570586" cy="570586"/>
          </a:xfrm>
          <a:prstGeom prst="rect">
            <a:avLst/>
          </a:prstGeom>
        </p:spPr>
      </p:pic>
      <p:sp>
        <p:nvSpPr>
          <p:cNvPr id="17" name="nomor langkah 3"/>
          <p:cNvSpPr/>
          <p:nvPr/>
        </p:nvSpPr>
        <p:spPr>
          <a:xfrm>
            <a:off x="5349240" y="1783080"/>
            <a:ext cx="457200" cy="457200"/>
          </a:xfrm>
          <a:prstGeom prst="ellipse">
            <a:avLst/>
          </a:prstGeom>
          <a:solidFill>
            <a:schemeClr val="accent2"/>
          </a:solidFill>
          <a:ln w="25400">
            <a:solidFill>
              <a:srgbClr val="FFFFFF"/>
            </a:solidFill>
            <a:prstDash val="solid"/>
          </a:ln>
        </p:spPr>
      </p:sp>
      <p:sp>
        <p:nvSpPr>
          <p:cNvPr id="18" name="angka langkah 3"/>
          <p:cNvSpPr txBox="1"/>
          <p:nvPr/>
        </p:nvSpPr>
        <p:spPr>
          <a:xfrm>
            <a:off x="53492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label langkah 3"/>
          <p:cNvSpPr txBox="1"/>
          <p:nvPr/>
        </p:nvSpPr>
        <p:spPr>
          <a:xfrm>
            <a:off x="42062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Jadwalkan sesi</a:t>
            </a:r>
            <a:endParaRPr lang="en-US" sz="1800" dirty="0"/>
          </a:p>
        </p:txBody>
      </p:sp>
      <p:pic>
        <p:nvPicPr>
          <p:cNvPr id="20" name="panah 3" descr="panah">    </p:cNvPr>
          <p:cNvPicPr>
            <a:picLocks noChangeAspect="1"/>
          </p:cNvPicPr>
          <p:nvPr/>
        </p:nvPicPr>
        <p:blipFill>
          <a:blip r:embed="rId6"/>
          <a:stretch>
            <a:fillRect/>
          </a:stretch>
        </p:blipFill>
        <p:spPr>
          <a:xfrm>
            <a:off x="5879592" y="2377440"/>
            <a:ext cx="274320" cy="274320"/>
          </a:xfrm>
          <a:prstGeom prst="rect">
            <a:avLst/>
          </a:prstGeom>
        </p:spPr>
      </p:pic>
      <p:sp>
        <p:nvSpPr>
          <p:cNvPr id="21" name="langkah 4 lingkaran"/>
          <p:cNvSpPr/>
          <p:nvPr/>
        </p:nvSpPr>
        <p:spPr>
          <a:xfrm>
            <a:off x="6355080" y="1920240"/>
            <a:ext cx="1188720" cy="1188720"/>
          </a:xfrm>
          <a:prstGeom prst="ellipse">
            <a:avLst/>
          </a:prstGeom>
          <a:solidFill>
            <a:schemeClr val="accent1"/>
          </a:solidFill>
          <a:ln w="12700">
            <a:solidFill>
              <a:schemeClr val="accent1"/>
            </a:solidFill>
            <a:prstDash val="solid"/>
          </a:ln>
        </p:spPr>
      </p:sp>
      <p:pic>
        <p:nvPicPr>
          <p:cNvPr id="22" name="langkah 4" descr="langkah 4">    </p:cNvPr>
          <p:cNvPicPr>
            <a:picLocks noChangeAspect="1"/>
          </p:cNvPicPr>
          <p:nvPr/>
        </p:nvPicPr>
        <p:blipFill>
          <a:blip r:embed="rId7"/>
          <a:stretch>
            <a:fillRect/>
          </a:stretch>
        </p:blipFill>
        <p:spPr>
          <a:xfrm>
            <a:off x="6664147" y="2229307"/>
            <a:ext cx="570586" cy="570586"/>
          </a:xfrm>
          <a:prstGeom prst="rect">
            <a:avLst/>
          </a:prstGeom>
        </p:spPr>
      </p:pic>
      <p:sp>
        <p:nvSpPr>
          <p:cNvPr id="23" name="nomor langkah 4"/>
          <p:cNvSpPr/>
          <p:nvPr/>
        </p:nvSpPr>
        <p:spPr>
          <a:xfrm>
            <a:off x="7178040" y="1783080"/>
            <a:ext cx="457200" cy="457200"/>
          </a:xfrm>
          <a:prstGeom prst="ellipse">
            <a:avLst/>
          </a:prstGeom>
          <a:solidFill>
            <a:schemeClr val="accent2"/>
          </a:solidFill>
          <a:ln w="25400">
            <a:solidFill>
              <a:srgbClr val="FFFFFF"/>
            </a:solidFill>
            <a:prstDash val="solid"/>
          </a:ln>
        </p:spPr>
      </p:sp>
      <p:sp>
        <p:nvSpPr>
          <p:cNvPr id="24" name="angka langkah 4"/>
          <p:cNvSpPr txBox="1"/>
          <p:nvPr/>
        </p:nvSpPr>
        <p:spPr>
          <a:xfrm>
            <a:off x="71780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label langkah 4"/>
          <p:cNvSpPr txBox="1"/>
          <p:nvPr/>
        </p:nvSpPr>
        <p:spPr>
          <a:xfrm>
            <a:off x="60350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Isi evaluasi</a:t>
            </a:r>
            <a:endParaRPr lang="en-US" sz="1800" dirty="0"/>
          </a:p>
        </p:txBody>
      </p:sp>
      <p:pic>
        <p:nvPicPr>
          <p:cNvPr id="26" name="panah 4" descr="panah">    </p:cNvPr>
          <p:cNvPicPr>
            <a:picLocks noChangeAspect="1"/>
          </p:cNvPicPr>
          <p:nvPr/>
        </p:nvPicPr>
        <p:blipFill>
          <a:blip r:embed="rId8"/>
          <a:stretch>
            <a:fillRect/>
          </a:stretch>
        </p:blipFill>
        <p:spPr>
          <a:xfrm>
            <a:off x="7708392" y="2377440"/>
            <a:ext cx="274320" cy="274320"/>
          </a:xfrm>
          <a:prstGeom prst="rect">
            <a:avLst/>
          </a:prstGeom>
        </p:spPr>
      </p:pic>
      <p:sp>
        <p:nvSpPr>
          <p:cNvPr id="27" name="langkah 5 lingkaran"/>
          <p:cNvSpPr/>
          <p:nvPr/>
        </p:nvSpPr>
        <p:spPr>
          <a:xfrm>
            <a:off x="8183880" y="1920240"/>
            <a:ext cx="1188720" cy="1188720"/>
          </a:xfrm>
          <a:prstGeom prst="ellipse">
            <a:avLst/>
          </a:prstGeom>
          <a:solidFill>
            <a:schemeClr val="accent1"/>
          </a:solidFill>
          <a:ln w="12700">
            <a:solidFill>
              <a:schemeClr val="accent1"/>
            </a:solidFill>
            <a:prstDash val="solid"/>
          </a:ln>
        </p:spPr>
      </p:sp>
      <p:pic>
        <p:nvPicPr>
          <p:cNvPr id="28" name="langkah 5" descr="langkah 5">    </p:cNvPr>
          <p:cNvPicPr>
            <a:picLocks noChangeAspect="1"/>
          </p:cNvPicPr>
          <p:nvPr/>
        </p:nvPicPr>
        <p:blipFill>
          <a:blip r:embed="rId9"/>
          <a:stretch>
            <a:fillRect/>
          </a:stretch>
        </p:blipFill>
        <p:spPr>
          <a:xfrm>
            <a:off x="8492947" y="2229307"/>
            <a:ext cx="570586" cy="570586"/>
          </a:xfrm>
          <a:prstGeom prst="rect">
            <a:avLst/>
          </a:prstGeom>
        </p:spPr>
      </p:pic>
      <p:sp>
        <p:nvSpPr>
          <p:cNvPr id="29" name="nomor langkah 5"/>
          <p:cNvSpPr/>
          <p:nvPr/>
        </p:nvSpPr>
        <p:spPr>
          <a:xfrm>
            <a:off x="9006840" y="1783080"/>
            <a:ext cx="457200" cy="457200"/>
          </a:xfrm>
          <a:prstGeom prst="ellipse">
            <a:avLst/>
          </a:prstGeom>
          <a:solidFill>
            <a:schemeClr val="accent2"/>
          </a:solidFill>
          <a:ln w="25400">
            <a:solidFill>
              <a:srgbClr val="FFFFFF"/>
            </a:solidFill>
            <a:prstDash val="solid"/>
          </a:ln>
        </p:spPr>
      </p:sp>
      <p:sp>
        <p:nvSpPr>
          <p:cNvPr id="30" name="angka langkah 5"/>
          <p:cNvSpPr txBox="1"/>
          <p:nvPr/>
        </p:nvSpPr>
        <p:spPr>
          <a:xfrm>
            <a:off x="90068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1" name="label langkah 5"/>
          <p:cNvSpPr txBox="1"/>
          <p:nvPr/>
        </p:nvSpPr>
        <p:spPr>
          <a:xfrm>
            <a:off x="78638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Bayar di kasir</a:t>
            </a:r>
            <a:endParaRPr lang="en-US" sz="1800" dirty="0"/>
          </a:p>
        </p:txBody>
      </p:sp>
      <p:pic>
        <p:nvPicPr>
          <p:cNvPr id="32" name="panah 5" descr="panah">    </p:cNvPr>
          <p:cNvPicPr>
            <a:picLocks noChangeAspect="1"/>
          </p:cNvPicPr>
          <p:nvPr/>
        </p:nvPicPr>
        <p:blipFill>
          <a:blip r:embed="rId10"/>
          <a:stretch>
            <a:fillRect/>
          </a:stretch>
        </p:blipFill>
        <p:spPr>
          <a:xfrm>
            <a:off x="9537192" y="2377440"/>
            <a:ext cx="274320" cy="274320"/>
          </a:xfrm>
          <a:prstGeom prst="rect">
            <a:avLst/>
          </a:prstGeom>
        </p:spPr>
      </p:pic>
      <p:sp>
        <p:nvSpPr>
          <p:cNvPr id="33" name="langkah 6 lingkaran"/>
          <p:cNvSpPr/>
          <p:nvPr/>
        </p:nvSpPr>
        <p:spPr>
          <a:xfrm>
            <a:off x="10012680" y="1920240"/>
            <a:ext cx="1188720" cy="1188720"/>
          </a:xfrm>
          <a:prstGeom prst="ellipse">
            <a:avLst/>
          </a:prstGeom>
          <a:solidFill>
            <a:schemeClr val="accent1"/>
          </a:solidFill>
          <a:ln w="12700">
            <a:solidFill>
              <a:schemeClr val="accent1"/>
            </a:solidFill>
            <a:prstDash val="solid"/>
          </a:ln>
        </p:spPr>
      </p:sp>
      <p:pic>
        <p:nvPicPr>
          <p:cNvPr id="34" name="langkah 6" descr="langkah 6">    </p:cNvPr>
          <p:cNvPicPr>
            <a:picLocks noChangeAspect="1"/>
          </p:cNvPicPr>
          <p:nvPr/>
        </p:nvPicPr>
        <p:blipFill>
          <a:blip r:embed="rId11"/>
          <a:stretch>
            <a:fillRect/>
          </a:stretch>
        </p:blipFill>
        <p:spPr>
          <a:xfrm>
            <a:off x="10321747" y="2229307"/>
            <a:ext cx="570586" cy="570586"/>
          </a:xfrm>
          <a:prstGeom prst="rect">
            <a:avLst/>
          </a:prstGeom>
        </p:spPr>
      </p:pic>
      <p:sp>
        <p:nvSpPr>
          <p:cNvPr id="35" name="nomor langkah 6"/>
          <p:cNvSpPr/>
          <p:nvPr/>
        </p:nvSpPr>
        <p:spPr>
          <a:xfrm>
            <a:off x="10835640" y="1783080"/>
            <a:ext cx="457200" cy="457200"/>
          </a:xfrm>
          <a:prstGeom prst="ellipse">
            <a:avLst/>
          </a:prstGeom>
          <a:solidFill>
            <a:schemeClr val="accent2"/>
          </a:solidFill>
          <a:ln w="25400">
            <a:solidFill>
              <a:srgbClr val="FFFFFF"/>
            </a:solidFill>
            <a:prstDash val="solid"/>
          </a:ln>
        </p:spPr>
      </p:sp>
      <p:sp>
        <p:nvSpPr>
          <p:cNvPr id="36" name="angka langkah 6"/>
          <p:cNvSpPr txBox="1"/>
          <p:nvPr/>
        </p:nvSpPr>
        <p:spPr>
          <a:xfrm>
            <a:off x="108356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7" name="label langkah 6"/>
          <p:cNvSpPr txBox="1"/>
          <p:nvPr/>
        </p:nvSpPr>
        <p:spPr>
          <a:xfrm>
            <a:off x="9692640" y="3291840"/>
            <a:ext cx="1828800" cy="731520"/>
          </a:xfrm>
          <a:prstGeom prst="rect">
            <a:avLst/>
          </a:prstGeom>
          <a:noFill/>
          <a:ln/>
        </p:spPr>
        <p:txBody>
          <a:bodyPr wrap="square" lIns="0" tIns="0" rIns="0" bIns="0" rtlCol="0" anchor="t"/>
          <a:lstStyle/>
          <a:p>
            <a:pPr algn="ctr" indent="0" marL="0">
              <a:buNone/>
            </a:pPr>
            <a:r>
              <a:rPr lang="en-US" sz="1800" b="1" dirty="0">
                <a:solidFill>
                  <a:schemeClr val="tx2"/>
                </a:solidFill>
              </a:rPr>
              <a:t>Cetak kwitansi</a:t>
            </a:r>
            <a:endParaRPr lang="en-US" sz="1800" dirty="0"/>
          </a:p>
        </p:txBody>
      </p:sp>
      <p:sp>
        <p:nvSpPr>
          <p:cNvPr id="38" name="kartu catatan alur"/>
          <p:cNvSpPr/>
          <p:nvPr/>
        </p:nvSpPr>
        <p:spPr>
          <a:xfrm>
            <a:off x="548640" y="4434840"/>
            <a:ext cx="11064240" cy="1417320"/>
          </a:xfrm>
          <a:prstGeom prst="roundRect">
            <a:avLst>
              <a:gd name="adj" fmla="val 9677"/>
            </a:avLst>
          </a:prstGeom>
          <a:solidFill>
            <a:schemeClr val="bg2"/>
          </a:solidFill>
          <a:ln w="12700">
            <a:solidFill>
              <a:schemeClr val="bg2"/>
            </a:solidFill>
            <a:prstDash val="solid"/>
          </a:ln>
        </p:spPr>
      </p:sp>
      <p:sp>
        <p:nvSpPr>
          <p:cNvPr id="39" name="ikon rekam terapi lingkaran"/>
          <p:cNvSpPr/>
          <p:nvPr/>
        </p:nvSpPr>
        <p:spPr>
          <a:xfrm>
            <a:off x="822960" y="4709160"/>
            <a:ext cx="822960" cy="822960"/>
          </a:xfrm>
          <a:prstGeom prst="ellipse">
            <a:avLst/>
          </a:prstGeom>
          <a:solidFill>
            <a:schemeClr val="accent1"/>
          </a:solidFill>
          <a:ln w="12700">
            <a:solidFill>
              <a:schemeClr val="accent1"/>
            </a:solidFill>
            <a:prstDash val="solid"/>
          </a:ln>
        </p:spPr>
      </p:sp>
      <p:pic>
        <p:nvPicPr>
          <p:cNvPr id="40" name="ikon rekam terapi" descr="ikon rekam terapi">    </p:cNvPr>
          <p:cNvPicPr>
            <a:picLocks noChangeAspect="1"/>
          </p:cNvPicPr>
          <p:nvPr/>
        </p:nvPicPr>
        <p:blipFill>
          <a:blip r:embed="rId12"/>
          <a:stretch>
            <a:fillRect/>
          </a:stretch>
        </p:blipFill>
        <p:spPr>
          <a:xfrm>
            <a:off x="1036930" y="4923130"/>
            <a:ext cx="395021" cy="395021"/>
          </a:xfrm>
          <a:prstGeom prst="rect">
            <a:avLst/>
          </a:prstGeom>
        </p:spPr>
      </p:pic>
      <p:sp>
        <p:nvSpPr>
          <p:cNvPr id="41" name="teks catatan alur"/>
          <p:cNvSpPr txBox="1"/>
          <p:nvPr/>
        </p:nvSpPr>
        <p:spPr>
          <a:xfrm>
            <a:off x="1920240" y="4526280"/>
            <a:ext cx="9418320" cy="1234440"/>
          </a:xfrm>
          <a:prstGeom prst="rect">
            <a:avLst/>
          </a:prstGeom>
          <a:noFill/>
          <a:ln/>
        </p:spPr>
        <p:txBody>
          <a:bodyPr wrap="square" lIns="0" tIns="0" rIns="0" bIns="0" rtlCol="0" anchor="ctr"/>
          <a:lstStyle/>
          <a:p>
            <a:pPr indent="0" marL="0">
              <a:buNone/>
            </a:pPr>
            <a:r>
              <a:rPr lang="en-US" sz="2000" dirty="0">
                <a:solidFill>
                  <a:schemeClr val="tx1"/>
                </a:solidFill>
              </a:rPr>
              <a:t>Setiap langkah tercatat otomatis: menjadi rekam terapi pasien, riwayat reservasi, dan laporan pendapatan klinik.</a:t>
            </a:r>
            <a:endParaRPr lang="en-US" sz="2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Reservasi &amp; jadwal tanpa bentrok</a:t>
            </a:r>
            <a:endParaRPr lang="en-US" sz="3600" dirty="0"/>
          </a:p>
        </p:txBody>
      </p:sp>
      <p:sp>
        <p:nvSpPr>
          <p:cNvPr id="3" name="Reservasi &amp; jadwal tanpa bentrok poin 1 lingkaran"/>
          <p:cNvSpPr/>
          <p:nvPr/>
        </p:nvSpPr>
        <p:spPr>
          <a:xfrm>
            <a:off x="548640" y="1527048"/>
            <a:ext cx="566928" cy="566928"/>
          </a:xfrm>
          <a:prstGeom prst="ellipse">
            <a:avLst/>
          </a:prstGeom>
          <a:solidFill>
            <a:schemeClr val="accent1"/>
          </a:solidFill>
          <a:ln w="12700">
            <a:solidFill>
              <a:schemeClr val="accent1"/>
            </a:solidFill>
            <a:prstDash val="solid"/>
          </a:ln>
        </p:spPr>
      </p:sp>
      <p:pic>
        <p:nvPicPr>
          <p:cNvPr id="4" name="Reservasi &amp; jadwal tanpa bentrok poin 1" descr="Reservasi &amp; jadwal tanpa bentrok poin 1">    </p:cNvPr>
          <p:cNvPicPr>
            <a:picLocks noChangeAspect="1"/>
          </p:cNvPicPr>
          <p:nvPr/>
        </p:nvPicPr>
        <p:blipFill>
          <a:blip r:embed="rId1"/>
          <a:stretch>
            <a:fillRect/>
          </a:stretch>
        </p:blipFill>
        <p:spPr>
          <a:xfrm>
            <a:off x="696041" y="1674449"/>
            <a:ext cx="272125" cy="272125"/>
          </a:xfrm>
          <a:prstGeom prst="rect">
            <a:avLst/>
          </a:prstGeom>
        </p:spPr>
      </p:pic>
      <p:sp>
        <p:nvSpPr>
          <p:cNvPr id="5" name="Reservasi &amp; jadwal tanpa bentrok poin 1 teks"/>
          <p:cNvSpPr txBox="1"/>
          <p:nvPr/>
        </p:nvSpPr>
        <p:spPr>
          <a:xfrm>
            <a:off x="1298448" y="15087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Catat keluhan &amp; jadwal</a:t>
            </a:r>
            <a:endParaRPr lang="en-US" sz="1800" dirty="0"/>
          </a:p>
          <a:p>
            <a:pPr indent="0" marL="0">
              <a:buNone/>
            </a:pPr>
            <a:r>
              <a:rPr lang="en-US" sz="1500" dirty="0">
                <a:solidFill>
                  <a:schemeClr val="tx1"/>
                </a:solidFill>
              </a:rPr>
              <a:t>Pilih pasien, isi keluhan, tanggal dan jam</a:t>
            </a:r>
            <a:endParaRPr lang="en-US" sz="1800" dirty="0"/>
          </a:p>
        </p:txBody>
      </p:sp>
      <p:sp>
        <p:nvSpPr>
          <p:cNvPr id="6" name="Reservasi &amp; jadwal tanpa bentrok poin 2 lingkaran"/>
          <p:cNvSpPr/>
          <p:nvPr/>
        </p:nvSpPr>
        <p:spPr>
          <a:xfrm>
            <a:off x="548640" y="2898648"/>
            <a:ext cx="566928" cy="566928"/>
          </a:xfrm>
          <a:prstGeom prst="ellipse">
            <a:avLst/>
          </a:prstGeom>
          <a:solidFill>
            <a:schemeClr val="accent1"/>
          </a:solidFill>
          <a:ln w="12700">
            <a:solidFill>
              <a:schemeClr val="accent1"/>
            </a:solidFill>
            <a:prstDash val="solid"/>
          </a:ln>
        </p:spPr>
      </p:sp>
      <p:pic>
        <p:nvPicPr>
          <p:cNvPr id="7" name="Reservasi &amp; jadwal tanpa bentrok poin 2" descr="Reservasi &amp; jadwal tanpa bentrok poin 2">    </p:cNvPr>
          <p:cNvPicPr>
            <a:picLocks noChangeAspect="1"/>
          </p:cNvPicPr>
          <p:nvPr/>
        </p:nvPicPr>
        <p:blipFill>
          <a:blip r:embed="rId2"/>
          <a:stretch>
            <a:fillRect/>
          </a:stretch>
        </p:blipFill>
        <p:spPr>
          <a:xfrm>
            <a:off x="696041" y="3046049"/>
            <a:ext cx="272125" cy="272125"/>
          </a:xfrm>
          <a:prstGeom prst="rect">
            <a:avLst/>
          </a:prstGeom>
        </p:spPr>
      </p:pic>
      <p:sp>
        <p:nvSpPr>
          <p:cNvPr id="8" name="Reservasi &amp; jadwal tanpa bentrok poin 2 teks"/>
          <p:cNvSpPr txBox="1"/>
          <p:nvPr/>
        </p:nvSpPr>
        <p:spPr>
          <a:xfrm>
            <a:off x="1298448" y="28803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Pengingat via WhatsApp</a:t>
            </a:r>
            <a:endParaRPr lang="en-US" sz="1800" dirty="0"/>
          </a:p>
          <a:p>
            <a:pPr indent="0" marL="0">
              <a:buNone/>
            </a:pPr>
            <a:r>
              <a:rPr lang="en-US" sz="1500" dirty="0">
                <a:solidFill>
                  <a:schemeClr val="tx1"/>
                </a:solidFill>
              </a:rPr>
              <a:t>Pesan jadwal tersusun otomatis</a:t>
            </a:r>
            <a:endParaRPr lang="en-US" sz="1800" dirty="0"/>
          </a:p>
        </p:txBody>
      </p:sp>
      <p:sp>
        <p:nvSpPr>
          <p:cNvPr id="9" name="Reservasi &amp; jadwal tanpa bentrok poin 3 lingkaran"/>
          <p:cNvSpPr/>
          <p:nvPr/>
        </p:nvSpPr>
        <p:spPr>
          <a:xfrm>
            <a:off x="548640" y="4270248"/>
            <a:ext cx="566928" cy="566928"/>
          </a:xfrm>
          <a:prstGeom prst="ellipse">
            <a:avLst/>
          </a:prstGeom>
          <a:solidFill>
            <a:schemeClr val="accent1"/>
          </a:solidFill>
          <a:ln w="12700">
            <a:solidFill>
              <a:schemeClr val="accent1"/>
            </a:solidFill>
            <a:prstDash val="solid"/>
          </a:ln>
        </p:spPr>
      </p:sp>
      <p:pic>
        <p:nvPicPr>
          <p:cNvPr id="10" name="Reservasi &amp; jadwal tanpa bentrok poin 3" descr="Reservasi &amp; jadwal tanpa bentrok poin 3">    </p:cNvPr>
          <p:cNvPicPr>
            <a:picLocks noChangeAspect="1"/>
          </p:cNvPicPr>
          <p:nvPr/>
        </p:nvPicPr>
        <p:blipFill>
          <a:blip r:embed="rId3"/>
          <a:stretch>
            <a:fillRect/>
          </a:stretch>
        </p:blipFill>
        <p:spPr>
          <a:xfrm>
            <a:off x="696041" y="4417649"/>
            <a:ext cx="272125" cy="272125"/>
          </a:xfrm>
          <a:prstGeom prst="rect">
            <a:avLst/>
          </a:prstGeom>
        </p:spPr>
      </p:pic>
      <p:sp>
        <p:nvSpPr>
          <p:cNvPr id="11" name="Reservasi &amp; jadwal tanpa bentrok poin 3 teks"/>
          <p:cNvSpPr txBox="1"/>
          <p:nvPr/>
        </p:nvSpPr>
        <p:spPr>
          <a:xfrm>
            <a:off x="1298448" y="42519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Anti jadwal bentrok</a:t>
            </a:r>
            <a:endParaRPr lang="en-US" sz="1800" dirty="0"/>
          </a:p>
          <a:p>
            <a:pPr indent="0" marL="0">
              <a:buNone/>
            </a:pPr>
            <a:r>
              <a:rPr lang="en-US" sz="1500" dirty="0">
                <a:solidFill>
                  <a:schemeClr val="tx1"/>
                </a:solidFill>
              </a:rPr>
              <a:t>Sistem menolak jam terapis atau pasien yang sudah terisi</a:t>
            </a:r>
            <a:endParaRPr lang="en-US" sz="1800" dirty="0"/>
          </a:p>
        </p:txBody>
      </p:sp>
      <p:sp>
        <p:nvSpPr>
          <p:cNvPr id="12" name="bingkai screenshot"/>
          <p:cNvSpPr/>
          <p:nvPr/>
        </p:nvSpPr>
        <p:spPr>
          <a:xfrm>
            <a:off x="5230368" y="1586484"/>
            <a:ext cx="6455664" cy="4096512"/>
          </a:xfrm>
          <a:prstGeom prst="roundRect">
            <a:avLst>
              <a:gd name="adj" fmla="val 2232"/>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3" name="screenshot Reservasi &amp; jadwal tanpa bentrok" descr="Reservasi &amp; jadwal tanpa bentrok">    </p:cNvPr>
          <p:cNvPicPr>
            <a:picLocks noChangeAspect="1"/>
          </p:cNvPicPr>
          <p:nvPr/>
        </p:nvPicPr>
        <p:blipFill>
          <a:blip r:embed="rId4"/>
          <a:stretch>
            <a:fillRect/>
          </a:stretch>
        </p:blipFill>
        <p:spPr>
          <a:xfrm>
            <a:off x="5303520" y="1659636"/>
            <a:ext cx="6309360" cy="3950208"/>
          </a:xfrm>
          <a:prstGeom prst="rect">
            <a:avLst/>
          </a:prstGeom>
        </p:spPr>
      </p:pic>
      <p:sp>
        <p:nvSpPr>
          <p:cNvPr id="14" name="keterangan screenshot"/>
          <p:cNvSpPr txBox="1"/>
          <p:nvPr/>
        </p:nvSpPr>
        <p:spPr>
          <a:xfrm>
            <a:off x="5303520" y="5737860"/>
            <a:ext cx="6309360"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Terapi bertahap dengan catatan evaluasi</a:t>
            </a:r>
            <a:endParaRPr lang="en-US" sz="3600" dirty="0"/>
          </a:p>
        </p:txBody>
      </p:sp>
      <p:sp>
        <p:nvSpPr>
          <p:cNvPr id="3" name="Terapi bertahap dengan catatan evaluasi poin 1 lingkaran"/>
          <p:cNvSpPr/>
          <p:nvPr/>
        </p:nvSpPr>
        <p:spPr>
          <a:xfrm>
            <a:off x="548640" y="1527048"/>
            <a:ext cx="566928" cy="566928"/>
          </a:xfrm>
          <a:prstGeom prst="ellipse">
            <a:avLst/>
          </a:prstGeom>
          <a:solidFill>
            <a:schemeClr val="accent1"/>
          </a:solidFill>
          <a:ln w="12700">
            <a:solidFill>
              <a:schemeClr val="accent1"/>
            </a:solidFill>
            <a:prstDash val="solid"/>
          </a:ln>
        </p:spPr>
      </p:sp>
      <p:pic>
        <p:nvPicPr>
          <p:cNvPr id="4" name="Terapi bertahap dengan catatan evaluasi poin 1" descr="Terapi bertahap dengan catatan evaluasi poin 1">    </p:cNvPr>
          <p:cNvPicPr>
            <a:picLocks noChangeAspect="1"/>
          </p:cNvPicPr>
          <p:nvPr/>
        </p:nvPicPr>
        <p:blipFill>
          <a:blip r:embed="rId1"/>
          <a:stretch>
            <a:fillRect/>
          </a:stretch>
        </p:blipFill>
        <p:spPr>
          <a:xfrm>
            <a:off x="696041" y="1674449"/>
            <a:ext cx="272125" cy="272125"/>
          </a:xfrm>
          <a:prstGeom prst="rect">
            <a:avLst/>
          </a:prstGeom>
        </p:spPr>
      </p:pic>
      <p:sp>
        <p:nvSpPr>
          <p:cNvPr id="5" name="Terapi bertahap dengan catatan evaluasi poin 1 teks"/>
          <p:cNvSpPr txBox="1"/>
          <p:nvPr/>
        </p:nvSpPr>
        <p:spPr>
          <a:xfrm>
            <a:off x="1298448" y="15087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Pilih tindakan &amp; tarif</a:t>
            </a:r>
            <a:endParaRPr lang="en-US" sz="1800" dirty="0"/>
          </a:p>
          <a:p>
            <a:pPr indent="0" marL="0">
              <a:buNone/>
            </a:pPr>
            <a:r>
              <a:rPr lang="en-US" sz="1500" dirty="0">
                <a:solidFill>
                  <a:schemeClr val="tx1"/>
                </a:solidFill>
              </a:rPr>
              <a:t>Tahap A–D sesuai katalog klinik Anda</a:t>
            </a:r>
            <a:endParaRPr lang="en-US" sz="1800" dirty="0"/>
          </a:p>
        </p:txBody>
      </p:sp>
      <p:sp>
        <p:nvSpPr>
          <p:cNvPr id="6" name="Terapi bertahap dengan catatan evaluasi poin 2 lingkaran"/>
          <p:cNvSpPr/>
          <p:nvPr/>
        </p:nvSpPr>
        <p:spPr>
          <a:xfrm>
            <a:off x="548640" y="2898648"/>
            <a:ext cx="566928" cy="566928"/>
          </a:xfrm>
          <a:prstGeom prst="ellipse">
            <a:avLst/>
          </a:prstGeom>
          <a:solidFill>
            <a:schemeClr val="accent1"/>
          </a:solidFill>
          <a:ln w="12700">
            <a:solidFill>
              <a:schemeClr val="accent1"/>
            </a:solidFill>
            <a:prstDash val="solid"/>
          </a:ln>
        </p:spPr>
      </p:sp>
      <p:pic>
        <p:nvPicPr>
          <p:cNvPr id="7" name="Terapi bertahap dengan catatan evaluasi poin 2" descr="Terapi bertahap dengan catatan evaluasi poin 2">    </p:cNvPr>
          <p:cNvPicPr>
            <a:picLocks noChangeAspect="1"/>
          </p:cNvPicPr>
          <p:nvPr/>
        </p:nvPicPr>
        <p:blipFill>
          <a:blip r:embed="rId2"/>
          <a:stretch>
            <a:fillRect/>
          </a:stretch>
        </p:blipFill>
        <p:spPr>
          <a:xfrm>
            <a:off x="696041" y="3046049"/>
            <a:ext cx="272125" cy="272125"/>
          </a:xfrm>
          <a:prstGeom prst="rect">
            <a:avLst/>
          </a:prstGeom>
        </p:spPr>
      </p:pic>
      <p:sp>
        <p:nvSpPr>
          <p:cNvPr id="8" name="Terapi bertahap dengan catatan evaluasi poin 2 teks"/>
          <p:cNvSpPr txBox="1"/>
          <p:nvPr/>
        </p:nvSpPr>
        <p:spPr>
          <a:xfrm>
            <a:off x="1298448" y="28803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Lembar evaluasi</a:t>
            </a:r>
            <a:endParaRPr lang="en-US" sz="1800" dirty="0"/>
          </a:p>
          <a:p>
            <a:pPr indent="0" marL="0">
              <a:buNone/>
            </a:pPr>
            <a:r>
              <a:rPr lang="en-US" sz="1500" dirty="0">
                <a:solidFill>
                  <a:schemeClr val="tx1"/>
                </a:solidFill>
              </a:rPr>
              <a:t>Terapis mencatat tindakan dan hasil sesi</a:t>
            </a:r>
            <a:endParaRPr lang="en-US" sz="1800" dirty="0"/>
          </a:p>
        </p:txBody>
      </p:sp>
      <p:sp>
        <p:nvSpPr>
          <p:cNvPr id="9" name="Terapi bertahap dengan catatan evaluasi poin 3 lingkaran"/>
          <p:cNvSpPr/>
          <p:nvPr/>
        </p:nvSpPr>
        <p:spPr>
          <a:xfrm>
            <a:off x="548640" y="4270248"/>
            <a:ext cx="566928" cy="566928"/>
          </a:xfrm>
          <a:prstGeom prst="ellipse">
            <a:avLst/>
          </a:prstGeom>
          <a:solidFill>
            <a:schemeClr val="accent1"/>
          </a:solidFill>
          <a:ln w="12700">
            <a:solidFill>
              <a:schemeClr val="accent1"/>
            </a:solidFill>
            <a:prstDash val="solid"/>
          </a:ln>
        </p:spPr>
      </p:sp>
      <p:pic>
        <p:nvPicPr>
          <p:cNvPr id="10" name="Terapi bertahap dengan catatan evaluasi poin 3" descr="Terapi bertahap dengan catatan evaluasi poin 3">    </p:cNvPr>
          <p:cNvPicPr>
            <a:picLocks noChangeAspect="1"/>
          </p:cNvPicPr>
          <p:nvPr/>
        </p:nvPicPr>
        <p:blipFill>
          <a:blip r:embed="rId3"/>
          <a:stretch>
            <a:fillRect/>
          </a:stretch>
        </p:blipFill>
        <p:spPr>
          <a:xfrm>
            <a:off x="696041" y="4417649"/>
            <a:ext cx="272125" cy="272125"/>
          </a:xfrm>
          <a:prstGeom prst="rect">
            <a:avLst/>
          </a:prstGeom>
        </p:spPr>
      </p:pic>
      <p:sp>
        <p:nvSpPr>
          <p:cNvPr id="11" name="Terapi bertahap dengan catatan evaluasi poin 3 teks"/>
          <p:cNvSpPr txBox="1"/>
          <p:nvPr/>
        </p:nvSpPr>
        <p:spPr>
          <a:xfrm>
            <a:off x="1298448" y="42519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Lanjut ke tahap berikutnya</a:t>
            </a:r>
            <a:endParaRPr lang="en-US" sz="1800" dirty="0"/>
          </a:p>
          <a:p>
            <a:pPr indent="0" marL="0">
              <a:buNone/>
            </a:pPr>
            <a:r>
              <a:rPr lang="en-US" sz="1500" dirty="0">
                <a:solidFill>
                  <a:schemeClr val="tx1"/>
                </a:solidFill>
              </a:rPr>
              <a:t>Sesi lanjutan langsung dijadwalkan, bisa lebih dari 1 sesi per hari</a:t>
            </a:r>
            <a:endParaRPr lang="en-US" sz="1800" dirty="0"/>
          </a:p>
        </p:txBody>
      </p:sp>
      <p:sp>
        <p:nvSpPr>
          <p:cNvPr id="12" name="bingkai screenshot"/>
          <p:cNvSpPr/>
          <p:nvPr/>
        </p:nvSpPr>
        <p:spPr>
          <a:xfrm>
            <a:off x="5230368" y="1586484"/>
            <a:ext cx="6455664" cy="4096512"/>
          </a:xfrm>
          <a:prstGeom prst="roundRect">
            <a:avLst>
              <a:gd name="adj" fmla="val 2232"/>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3" name="screenshot Terapi bertahap dengan catatan evaluasi" descr="Terapi bertahap dengan catatan evaluasi">    </p:cNvPr>
          <p:cNvPicPr>
            <a:picLocks noChangeAspect="1"/>
          </p:cNvPicPr>
          <p:nvPr/>
        </p:nvPicPr>
        <p:blipFill>
          <a:blip r:embed="rId4"/>
          <a:stretch>
            <a:fillRect/>
          </a:stretch>
        </p:blipFill>
        <p:spPr>
          <a:xfrm>
            <a:off x="5303520" y="1659636"/>
            <a:ext cx="6309360" cy="3950208"/>
          </a:xfrm>
          <a:prstGeom prst="rect">
            <a:avLst/>
          </a:prstGeom>
        </p:spPr>
      </p:pic>
      <p:sp>
        <p:nvSpPr>
          <p:cNvPr id="14" name="keterangan screenshot"/>
          <p:cNvSpPr txBox="1"/>
          <p:nvPr/>
        </p:nvSpPr>
        <p:spPr>
          <a:xfrm>
            <a:off x="5303520" y="5737860"/>
            <a:ext cx="6309360"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Kasir otomatis menghitung tagihan</a:t>
            </a:r>
            <a:endParaRPr lang="en-US" sz="3600" dirty="0"/>
          </a:p>
        </p:txBody>
      </p:sp>
      <p:sp>
        <p:nvSpPr>
          <p:cNvPr id="3" name="Kasir otomatis menghitung tagihan poin 1 lingkaran"/>
          <p:cNvSpPr/>
          <p:nvPr/>
        </p:nvSpPr>
        <p:spPr>
          <a:xfrm>
            <a:off x="548640" y="1527048"/>
            <a:ext cx="566928" cy="566928"/>
          </a:xfrm>
          <a:prstGeom prst="ellipse">
            <a:avLst/>
          </a:prstGeom>
          <a:solidFill>
            <a:schemeClr val="accent1"/>
          </a:solidFill>
          <a:ln w="12700">
            <a:solidFill>
              <a:schemeClr val="accent1"/>
            </a:solidFill>
            <a:prstDash val="solid"/>
          </a:ln>
        </p:spPr>
      </p:sp>
      <p:pic>
        <p:nvPicPr>
          <p:cNvPr id="4" name="Kasir otomatis menghitung tagihan poin 1" descr="Kasir otomatis menghitung tagihan poin 1">    </p:cNvPr>
          <p:cNvPicPr>
            <a:picLocks noChangeAspect="1"/>
          </p:cNvPicPr>
          <p:nvPr/>
        </p:nvPicPr>
        <p:blipFill>
          <a:blip r:embed="rId1"/>
          <a:stretch>
            <a:fillRect/>
          </a:stretch>
        </p:blipFill>
        <p:spPr>
          <a:xfrm>
            <a:off x="696041" y="1674449"/>
            <a:ext cx="272125" cy="272125"/>
          </a:xfrm>
          <a:prstGeom prst="rect">
            <a:avLst/>
          </a:prstGeom>
        </p:spPr>
      </p:pic>
      <p:sp>
        <p:nvSpPr>
          <p:cNvPr id="5" name="Kasir otomatis menghitung tagihan poin 1 teks"/>
          <p:cNvSpPr txBox="1"/>
          <p:nvPr/>
        </p:nvSpPr>
        <p:spPr>
          <a:xfrm>
            <a:off x="1298448" y="1508760"/>
            <a:ext cx="5010912" cy="960120"/>
          </a:xfrm>
          <a:prstGeom prst="rect">
            <a:avLst/>
          </a:prstGeom>
          <a:noFill/>
          <a:ln/>
        </p:spPr>
        <p:txBody>
          <a:bodyPr wrap="square" lIns="0" tIns="0" rIns="0" bIns="0" rtlCol="0" anchor="t"/>
          <a:lstStyle/>
          <a:p>
            <a:pPr indent="0" marL="0">
              <a:buNone/>
            </a:pPr>
            <a:r>
              <a:rPr lang="en-US" sz="1800" b="1" dirty="0">
                <a:solidFill>
                  <a:schemeClr val="tx2"/>
                </a:solidFill>
              </a:rPr>
              <a:t>Tagihan dari tarif tindakan</a:t>
            </a:r>
            <a:endParaRPr lang="en-US" sz="1800" dirty="0"/>
          </a:p>
          <a:p>
            <a:pPr indent="0" marL="0">
              <a:buNone/>
            </a:pPr>
            <a:r>
              <a:rPr lang="en-US" sz="1500" dirty="0">
                <a:solidFill>
                  <a:schemeClr val="tx1"/>
                </a:solidFill>
              </a:rPr>
              <a:t>Total dihitung otomatis dari semua sesi</a:t>
            </a:r>
            <a:endParaRPr lang="en-US" sz="1800" dirty="0"/>
          </a:p>
        </p:txBody>
      </p:sp>
      <p:sp>
        <p:nvSpPr>
          <p:cNvPr id="6" name="Kasir otomatis menghitung tagihan poin 2 lingkaran"/>
          <p:cNvSpPr/>
          <p:nvPr/>
        </p:nvSpPr>
        <p:spPr>
          <a:xfrm>
            <a:off x="548640" y="2642616"/>
            <a:ext cx="566928" cy="566928"/>
          </a:xfrm>
          <a:prstGeom prst="ellipse">
            <a:avLst/>
          </a:prstGeom>
          <a:solidFill>
            <a:schemeClr val="accent1"/>
          </a:solidFill>
          <a:ln w="12700">
            <a:solidFill>
              <a:schemeClr val="accent1"/>
            </a:solidFill>
            <a:prstDash val="solid"/>
          </a:ln>
        </p:spPr>
      </p:sp>
      <p:pic>
        <p:nvPicPr>
          <p:cNvPr id="7" name="Kasir otomatis menghitung tagihan poin 2" descr="Kasir otomatis menghitung tagihan poin 2">    </p:cNvPr>
          <p:cNvPicPr>
            <a:picLocks noChangeAspect="1"/>
          </p:cNvPicPr>
          <p:nvPr/>
        </p:nvPicPr>
        <p:blipFill>
          <a:blip r:embed="rId2"/>
          <a:stretch>
            <a:fillRect/>
          </a:stretch>
        </p:blipFill>
        <p:spPr>
          <a:xfrm>
            <a:off x="696041" y="2790017"/>
            <a:ext cx="272125" cy="272125"/>
          </a:xfrm>
          <a:prstGeom prst="rect">
            <a:avLst/>
          </a:prstGeom>
        </p:spPr>
      </p:pic>
      <p:sp>
        <p:nvSpPr>
          <p:cNvPr id="8" name="Kasir otomatis menghitung tagihan poin 2 teks"/>
          <p:cNvSpPr txBox="1"/>
          <p:nvPr/>
        </p:nvSpPr>
        <p:spPr>
          <a:xfrm>
            <a:off x="1298448" y="2624328"/>
            <a:ext cx="5010912" cy="960120"/>
          </a:xfrm>
          <a:prstGeom prst="rect">
            <a:avLst/>
          </a:prstGeom>
          <a:noFill/>
          <a:ln/>
        </p:spPr>
        <p:txBody>
          <a:bodyPr wrap="square" lIns="0" tIns="0" rIns="0" bIns="0" rtlCol="0" anchor="t"/>
          <a:lstStyle/>
          <a:p>
            <a:pPr indent="0" marL="0">
              <a:buNone/>
            </a:pPr>
            <a:r>
              <a:rPr lang="en-US" sz="1800" b="1" dirty="0">
                <a:solidFill>
                  <a:schemeClr val="tx2"/>
                </a:solidFill>
              </a:rPr>
              <a:t>Biaya lain &amp; diskon</a:t>
            </a:r>
            <a:endParaRPr lang="en-US" sz="1800" dirty="0"/>
          </a:p>
          <a:p>
            <a:pPr indent="0" marL="0">
              <a:buNone/>
            </a:pPr>
            <a:r>
              <a:rPr lang="en-US" sz="1500" dirty="0">
                <a:solidFill>
                  <a:schemeClr val="tx1"/>
                </a:solidFill>
              </a:rPr>
              <a:t>Dalam Rupiah atau persen</a:t>
            </a:r>
            <a:endParaRPr lang="en-US" sz="1800" dirty="0"/>
          </a:p>
        </p:txBody>
      </p:sp>
      <p:sp>
        <p:nvSpPr>
          <p:cNvPr id="9" name="Kasir otomatis menghitung tagihan poin 3 lingkaran"/>
          <p:cNvSpPr/>
          <p:nvPr/>
        </p:nvSpPr>
        <p:spPr>
          <a:xfrm>
            <a:off x="548640" y="3758184"/>
            <a:ext cx="566928" cy="566928"/>
          </a:xfrm>
          <a:prstGeom prst="ellipse">
            <a:avLst/>
          </a:prstGeom>
          <a:solidFill>
            <a:schemeClr val="accent1"/>
          </a:solidFill>
          <a:ln w="12700">
            <a:solidFill>
              <a:schemeClr val="accent1"/>
            </a:solidFill>
            <a:prstDash val="solid"/>
          </a:ln>
        </p:spPr>
      </p:sp>
      <p:pic>
        <p:nvPicPr>
          <p:cNvPr id="10" name="Kasir otomatis menghitung tagihan poin 3" descr="Kasir otomatis menghitung tagihan poin 3">    </p:cNvPr>
          <p:cNvPicPr>
            <a:picLocks noChangeAspect="1"/>
          </p:cNvPicPr>
          <p:nvPr/>
        </p:nvPicPr>
        <p:blipFill>
          <a:blip r:embed="rId3"/>
          <a:stretch>
            <a:fillRect/>
          </a:stretch>
        </p:blipFill>
        <p:spPr>
          <a:xfrm>
            <a:off x="696041" y="3905585"/>
            <a:ext cx="272125" cy="272125"/>
          </a:xfrm>
          <a:prstGeom prst="rect">
            <a:avLst/>
          </a:prstGeom>
        </p:spPr>
      </p:pic>
      <p:sp>
        <p:nvSpPr>
          <p:cNvPr id="11" name="Kasir otomatis menghitung tagihan poin 3 teks"/>
          <p:cNvSpPr txBox="1"/>
          <p:nvPr/>
        </p:nvSpPr>
        <p:spPr>
          <a:xfrm>
            <a:off x="1298448" y="3739896"/>
            <a:ext cx="5010912" cy="960120"/>
          </a:xfrm>
          <a:prstGeom prst="rect">
            <a:avLst/>
          </a:prstGeom>
          <a:noFill/>
          <a:ln/>
        </p:spPr>
        <p:txBody>
          <a:bodyPr wrap="square" lIns="0" tIns="0" rIns="0" bIns="0" rtlCol="0" anchor="t"/>
          <a:lstStyle/>
          <a:p>
            <a:pPr indent="0" marL="0">
              <a:buNone/>
            </a:pPr>
            <a:r>
              <a:rPr lang="en-US" sz="1800" b="1" dirty="0">
                <a:solidFill>
                  <a:schemeClr val="tx2"/>
                </a:solidFill>
              </a:rPr>
              <a:t>Cash, QRIS, transfer, debit</a:t>
            </a:r>
            <a:endParaRPr lang="en-US" sz="1800" dirty="0"/>
          </a:p>
          <a:p>
            <a:pPr indent="0" marL="0">
              <a:buNone/>
            </a:pPr>
            <a:r>
              <a:rPr lang="en-US" sz="1500" dirty="0">
                <a:solidFill>
                  <a:schemeClr val="tx1"/>
                </a:solidFill>
              </a:rPr>
              <a:t>Kembalian dihitung otomatis</a:t>
            </a:r>
            <a:endParaRPr lang="en-US" sz="1800" dirty="0"/>
          </a:p>
        </p:txBody>
      </p:sp>
      <p:sp>
        <p:nvSpPr>
          <p:cNvPr id="12" name="Kasir otomatis menghitung tagihan poin 4 lingkaran"/>
          <p:cNvSpPr/>
          <p:nvPr/>
        </p:nvSpPr>
        <p:spPr>
          <a:xfrm>
            <a:off x="548640" y="4873752"/>
            <a:ext cx="566928" cy="566928"/>
          </a:xfrm>
          <a:prstGeom prst="ellipse">
            <a:avLst/>
          </a:prstGeom>
          <a:solidFill>
            <a:schemeClr val="accent1"/>
          </a:solidFill>
          <a:ln w="12700">
            <a:solidFill>
              <a:schemeClr val="accent1"/>
            </a:solidFill>
            <a:prstDash val="solid"/>
          </a:ln>
        </p:spPr>
      </p:sp>
      <p:pic>
        <p:nvPicPr>
          <p:cNvPr id="13" name="Kasir otomatis menghitung tagihan poin 4" descr="Kasir otomatis menghitung tagihan poin 4">    </p:cNvPr>
          <p:cNvPicPr>
            <a:picLocks noChangeAspect="1"/>
          </p:cNvPicPr>
          <p:nvPr/>
        </p:nvPicPr>
        <p:blipFill>
          <a:blip r:embed="rId4"/>
          <a:stretch>
            <a:fillRect/>
          </a:stretch>
        </p:blipFill>
        <p:spPr>
          <a:xfrm>
            <a:off x="696041" y="5021153"/>
            <a:ext cx="272125" cy="272125"/>
          </a:xfrm>
          <a:prstGeom prst="rect">
            <a:avLst/>
          </a:prstGeom>
        </p:spPr>
      </p:pic>
      <p:sp>
        <p:nvSpPr>
          <p:cNvPr id="14" name="Kasir otomatis menghitung tagihan poin 4 teks"/>
          <p:cNvSpPr txBox="1"/>
          <p:nvPr/>
        </p:nvSpPr>
        <p:spPr>
          <a:xfrm>
            <a:off x="1298448" y="4855464"/>
            <a:ext cx="5010912" cy="960120"/>
          </a:xfrm>
          <a:prstGeom prst="rect">
            <a:avLst/>
          </a:prstGeom>
          <a:noFill/>
          <a:ln/>
        </p:spPr>
        <p:txBody>
          <a:bodyPr wrap="square" lIns="0" tIns="0" rIns="0" bIns="0" rtlCol="0" anchor="t"/>
          <a:lstStyle/>
          <a:p>
            <a:pPr indent="0" marL="0">
              <a:buNone/>
            </a:pPr>
            <a:r>
              <a:rPr lang="en-US" sz="1800" b="1" dirty="0">
                <a:solidFill>
                  <a:schemeClr val="tx2"/>
                </a:solidFill>
              </a:rPr>
              <a:t>Kwitansi &amp; surat sakit</a:t>
            </a:r>
            <a:endParaRPr lang="en-US" sz="1800" dirty="0"/>
          </a:p>
          <a:p>
            <a:pPr indent="0" marL="0">
              <a:buNone/>
            </a:pPr>
            <a:r>
              <a:rPr lang="en-US" sz="1500" dirty="0">
                <a:solidFill>
                  <a:schemeClr val="tx1"/>
                </a:solidFill>
              </a:rPr>
              <a:t>Langsung cetak atau simpan PDF</a:t>
            </a:r>
            <a:endParaRPr lang="en-US" sz="1800" dirty="0"/>
          </a:p>
        </p:txBody>
      </p:sp>
      <p:sp>
        <p:nvSpPr>
          <p:cNvPr id="15" name="bingkai screenshot"/>
          <p:cNvSpPr/>
          <p:nvPr/>
        </p:nvSpPr>
        <p:spPr>
          <a:xfrm>
            <a:off x="7518134" y="1344168"/>
            <a:ext cx="4167898" cy="4581144"/>
          </a:xfrm>
          <a:prstGeom prst="roundRect">
            <a:avLst>
              <a:gd name="adj" fmla="val 2194"/>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6" name="screenshot Kasir otomatis menghitung tagihan" descr="Kasir otomatis menghitung tagihan">    </p:cNvPr>
          <p:cNvPicPr>
            <a:picLocks noChangeAspect="1"/>
          </p:cNvPicPr>
          <p:nvPr/>
        </p:nvPicPr>
        <p:blipFill>
          <a:blip r:embed="rId5"/>
          <a:stretch>
            <a:fillRect/>
          </a:stretch>
        </p:blipFill>
        <p:spPr>
          <a:xfrm>
            <a:off x="7591286" y="1417320"/>
            <a:ext cx="4021594" cy="4434840"/>
          </a:xfrm>
          <a:prstGeom prst="rect">
            <a:avLst/>
          </a:prstGeom>
        </p:spPr>
      </p:pic>
      <p:sp>
        <p:nvSpPr>
          <p:cNvPr id="17" name="keterangan screenshot"/>
          <p:cNvSpPr txBox="1"/>
          <p:nvPr/>
        </p:nvSpPr>
        <p:spPr>
          <a:xfrm>
            <a:off x="7591286" y="5980176"/>
            <a:ext cx="4021594"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Pantau pendapatan real kapan saja</a:t>
            </a:r>
            <a:endParaRPr lang="en-US" sz="3600" dirty="0"/>
          </a:p>
        </p:txBody>
      </p:sp>
      <p:sp>
        <p:nvSpPr>
          <p:cNvPr id="3" name="Pantau pendapatan real kapan saja poin 1 lingkaran"/>
          <p:cNvSpPr/>
          <p:nvPr/>
        </p:nvSpPr>
        <p:spPr>
          <a:xfrm>
            <a:off x="548640" y="1527048"/>
            <a:ext cx="566928" cy="566928"/>
          </a:xfrm>
          <a:prstGeom prst="ellipse">
            <a:avLst/>
          </a:prstGeom>
          <a:solidFill>
            <a:schemeClr val="accent1"/>
          </a:solidFill>
          <a:ln w="12700">
            <a:solidFill>
              <a:schemeClr val="accent1"/>
            </a:solidFill>
            <a:prstDash val="solid"/>
          </a:ln>
        </p:spPr>
      </p:sp>
      <p:pic>
        <p:nvPicPr>
          <p:cNvPr id="4" name="Pantau pendapatan real kapan saja poin 1" descr="Pantau pendapatan real kapan saja poin 1">    </p:cNvPr>
          <p:cNvPicPr>
            <a:picLocks noChangeAspect="1"/>
          </p:cNvPicPr>
          <p:nvPr/>
        </p:nvPicPr>
        <p:blipFill>
          <a:blip r:embed="rId1"/>
          <a:stretch>
            <a:fillRect/>
          </a:stretch>
        </p:blipFill>
        <p:spPr>
          <a:xfrm>
            <a:off x="696041" y="1674449"/>
            <a:ext cx="272125" cy="272125"/>
          </a:xfrm>
          <a:prstGeom prst="rect">
            <a:avLst/>
          </a:prstGeom>
        </p:spPr>
      </p:pic>
      <p:sp>
        <p:nvSpPr>
          <p:cNvPr id="5" name="Pantau pendapatan real kapan saja poin 1 teks"/>
          <p:cNvSpPr txBox="1"/>
          <p:nvPr/>
        </p:nvSpPr>
        <p:spPr>
          <a:xfrm>
            <a:off x="1298448" y="15087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Grafik per hari atau bulan</a:t>
            </a:r>
            <a:endParaRPr lang="en-US" sz="1800" dirty="0"/>
          </a:p>
          <a:p>
            <a:pPr indent="0" marL="0">
              <a:buNone/>
            </a:pPr>
            <a:r>
              <a:rPr lang="en-US" sz="1500" dirty="0">
                <a:solidFill>
                  <a:schemeClr val="tx1"/>
                </a:solidFill>
              </a:rPr>
              <a:t>Pilih rentang tanggal sesuai kebutuhan</a:t>
            </a:r>
            <a:endParaRPr lang="en-US" sz="1800" dirty="0"/>
          </a:p>
        </p:txBody>
      </p:sp>
      <p:sp>
        <p:nvSpPr>
          <p:cNvPr id="6" name="Pantau pendapatan real kapan saja poin 2 lingkaran"/>
          <p:cNvSpPr/>
          <p:nvPr/>
        </p:nvSpPr>
        <p:spPr>
          <a:xfrm>
            <a:off x="548640" y="2898648"/>
            <a:ext cx="566928" cy="566928"/>
          </a:xfrm>
          <a:prstGeom prst="ellipse">
            <a:avLst/>
          </a:prstGeom>
          <a:solidFill>
            <a:schemeClr val="accent1"/>
          </a:solidFill>
          <a:ln w="12700">
            <a:solidFill>
              <a:schemeClr val="accent1"/>
            </a:solidFill>
            <a:prstDash val="solid"/>
          </a:ln>
        </p:spPr>
      </p:sp>
      <p:pic>
        <p:nvPicPr>
          <p:cNvPr id="7" name="Pantau pendapatan real kapan saja poin 2" descr="Pantau pendapatan real kapan saja poin 2">    </p:cNvPr>
          <p:cNvPicPr>
            <a:picLocks noChangeAspect="1"/>
          </p:cNvPicPr>
          <p:nvPr/>
        </p:nvPicPr>
        <p:blipFill>
          <a:blip r:embed="rId2"/>
          <a:stretch>
            <a:fillRect/>
          </a:stretch>
        </p:blipFill>
        <p:spPr>
          <a:xfrm>
            <a:off x="696041" y="3046049"/>
            <a:ext cx="272125" cy="272125"/>
          </a:xfrm>
          <a:prstGeom prst="rect">
            <a:avLst/>
          </a:prstGeom>
        </p:spPr>
      </p:pic>
      <p:sp>
        <p:nvSpPr>
          <p:cNvPr id="8" name="Pantau pendapatan real kapan saja poin 2 teks"/>
          <p:cNvSpPr txBox="1"/>
          <p:nvPr/>
        </p:nvSpPr>
        <p:spPr>
          <a:xfrm>
            <a:off x="1298448" y="28803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Rincian per metode bayar</a:t>
            </a:r>
            <a:endParaRPr lang="en-US" sz="1800" dirty="0"/>
          </a:p>
          <a:p>
            <a:pPr indent="0" marL="0">
              <a:buNone/>
            </a:pPr>
            <a:r>
              <a:rPr lang="en-US" sz="1500" dirty="0">
                <a:solidFill>
                  <a:schemeClr val="tx1"/>
                </a:solidFill>
              </a:rPr>
              <a:t>Cash, QRIS, transfer, dan lainnya</a:t>
            </a:r>
            <a:endParaRPr lang="en-US" sz="1800" dirty="0"/>
          </a:p>
        </p:txBody>
      </p:sp>
      <p:sp>
        <p:nvSpPr>
          <p:cNvPr id="9" name="Pantau pendapatan real kapan saja poin 3 lingkaran"/>
          <p:cNvSpPr/>
          <p:nvPr/>
        </p:nvSpPr>
        <p:spPr>
          <a:xfrm>
            <a:off x="548640" y="4270248"/>
            <a:ext cx="566928" cy="566928"/>
          </a:xfrm>
          <a:prstGeom prst="ellipse">
            <a:avLst/>
          </a:prstGeom>
          <a:solidFill>
            <a:schemeClr val="accent1"/>
          </a:solidFill>
          <a:ln w="12700">
            <a:solidFill>
              <a:schemeClr val="accent1"/>
            </a:solidFill>
            <a:prstDash val="solid"/>
          </a:ln>
        </p:spPr>
      </p:sp>
      <p:pic>
        <p:nvPicPr>
          <p:cNvPr id="10" name="Pantau pendapatan real kapan saja poin 3" descr="Pantau pendapatan real kapan saja poin 3">    </p:cNvPr>
          <p:cNvPicPr>
            <a:picLocks noChangeAspect="1"/>
          </p:cNvPicPr>
          <p:nvPr/>
        </p:nvPicPr>
        <p:blipFill>
          <a:blip r:embed="rId3"/>
          <a:stretch>
            <a:fillRect/>
          </a:stretch>
        </p:blipFill>
        <p:spPr>
          <a:xfrm>
            <a:off x="696041" y="4417649"/>
            <a:ext cx="272125" cy="272125"/>
          </a:xfrm>
          <a:prstGeom prst="rect">
            <a:avLst/>
          </a:prstGeom>
        </p:spPr>
      </p:pic>
      <p:sp>
        <p:nvSpPr>
          <p:cNvPr id="11" name="Pantau pendapatan real kapan saja poin 3 teks"/>
          <p:cNvSpPr txBox="1"/>
          <p:nvPr/>
        </p:nvSpPr>
        <p:spPr>
          <a:xfrm>
            <a:off x="1298448" y="42519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Pendapatan bersih</a:t>
            </a:r>
            <a:endParaRPr lang="en-US" sz="1800" dirty="0"/>
          </a:p>
          <a:p>
            <a:pPr indent="0" marL="0">
              <a:buNone/>
            </a:pPr>
            <a:r>
              <a:rPr lang="en-US" sz="1500" dirty="0">
                <a:solidFill>
                  <a:schemeClr val="tx1"/>
                </a:solidFill>
              </a:rPr>
              <a:t>Dihitung dari tagihan, uang kembalian tidak ikut</a:t>
            </a:r>
            <a:endParaRPr lang="en-US" sz="1800" dirty="0"/>
          </a:p>
        </p:txBody>
      </p:sp>
      <p:sp>
        <p:nvSpPr>
          <p:cNvPr id="12" name="bingkai screenshot"/>
          <p:cNvSpPr/>
          <p:nvPr/>
        </p:nvSpPr>
        <p:spPr>
          <a:xfrm>
            <a:off x="5230368" y="1620246"/>
            <a:ext cx="6455664" cy="4028987"/>
          </a:xfrm>
          <a:prstGeom prst="roundRect">
            <a:avLst>
              <a:gd name="adj" fmla="val 2270"/>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3" name="screenshot Pantau pendapatan real kapan saja" descr="Pantau pendapatan real kapan saja">    </p:cNvPr>
          <p:cNvPicPr>
            <a:picLocks noChangeAspect="1"/>
          </p:cNvPicPr>
          <p:nvPr/>
        </p:nvPicPr>
        <p:blipFill>
          <a:blip r:embed="rId4"/>
          <a:stretch>
            <a:fillRect/>
          </a:stretch>
        </p:blipFill>
        <p:spPr>
          <a:xfrm>
            <a:off x="5303520" y="1693398"/>
            <a:ext cx="6309360" cy="3882683"/>
          </a:xfrm>
          <a:prstGeom prst="rect">
            <a:avLst/>
          </a:prstGeom>
        </p:spPr>
      </p:pic>
      <p:sp>
        <p:nvSpPr>
          <p:cNvPr id="14" name="keterangan screenshot"/>
          <p:cNvSpPr txBox="1"/>
          <p:nvPr/>
        </p:nvSpPr>
        <p:spPr>
          <a:xfrm>
            <a:off x="5303520" y="5704098"/>
            <a:ext cx="6309360"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Fitur pendukung lainnya</a:t>
            </a:r>
            <a:endParaRPr lang="en-US" sz="3600" dirty="0"/>
          </a:p>
        </p:txBody>
      </p:sp>
      <p:sp>
        <p:nvSpPr>
          <p:cNvPr id="3" name="kartu Data pasien &amp; terapis"/>
          <p:cNvSpPr/>
          <p:nvPr/>
        </p:nvSpPr>
        <p:spPr>
          <a:xfrm>
            <a:off x="548640" y="1463040"/>
            <a:ext cx="3566160" cy="2057400"/>
          </a:xfrm>
          <a:prstGeom prst="roundRect">
            <a:avLst>
              <a:gd name="adj" fmla="val 6667"/>
            </a:avLst>
          </a:prstGeom>
          <a:solidFill>
            <a:schemeClr val="bg2"/>
          </a:solidFill>
          <a:ln w="12700">
            <a:solidFill>
              <a:schemeClr val="bg2"/>
            </a:solidFill>
            <a:prstDash val="solid"/>
          </a:ln>
        </p:spPr>
      </p:sp>
      <p:sp>
        <p:nvSpPr>
          <p:cNvPr id="4" name="ikon Data pasien &amp; terapis lingkaran"/>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5" name="ikon Data pasien &amp; terapis" descr="ikon Data pasien &amp; terapis">    </p:cNvPr>
          <p:cNvPicPr>
            <a:picLocks noChangeAspect="1"/>
          </p:cNvPicPr>
          <p:nvPr/>
        </p:nvPicPr>
        <p:blipFill>
          <a:blip r:embed="rId1"/>
          <a:stretch>
            <a:fillRect/>
          </a:stretch>
        </p:blipFill>
        <p:spPr>
          <a:xfrm>
            <a:off x="1001268" y="1915668"/>
            <a:ext cx="329184" cy="329184"/>
          </a:xfrm>
          <a:prstGeom prst="rect">
            <a:avLst/>
          </a:prstGeom>
        </p:spPr>
      </p:pic>
      <p:sp>
        <p:nvSpPr>
          <p:cNvPr id="6" name="teks Data pasien &amp; terapis"/>
          <p:cNvSpPr txBox="1"/>
          <p:nvPr/>
        </p:nvSpPr>
        <p:spPr>
          <a:xfrm>
            <a:off x="822960" y="2560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Data pasien &amp; terapis</a:t>
            </a:r>
            <a:endParaRPr lang="en-US" sz="1900" dirty="0"/>
          </a:p>
          <a:p>
            <a:pPr indent="0" marL="0">
              <a:buNone/>
            </a:pPr>
            <a:r>
              <a:rPr lang="en-US" sz="1500" dirty="0">
                <a:solidFill>
                  <a:schemeClr val="tx1"/>
                </a:solidFill>
              </a:rPr>
              <a:t>Pasien cukup didaftarkan sekali</a:t>
            </a:r>
            <a:endParaRPr lang="en-US" sz="1900" dirty="0"/>
          </a:p>
        </p:txBody>
      </p:sp>
      <p:sp>
        <p:nvSpPr>
          <p:cNvPr id="7" name="kartu Referal pasien"/>
          <p:cNvSpPr/>
          <p:nvPr/>
        </p:nvSpPr>
        <p:spPr>
          <a:xfrm>
            <a:off x="4297680" y="1463040"/>
            <a:ext cx="3566160" cy="2057400"/>
          </a:xfrm>
          <a:prstGeom prst="roundRect">
            <a:avLst>
              <a:gd name="adj" fmla="val 6667"/>
            </a:avLst>
          </a:prstGeom>
          <a:solidFill>
            <a:schemeClr val="bg2"/>
          </a:solidFill>
          <a:ln w="12700">
            <a:solidFill>
              <a:schemeClr val="bg2"/>
            </a:solidFill>
            <a:prstDash val="solid"/>
          </a:ln>
        </p:spPr>
      </p:sp>
      <p:sp>
        <p:nvSpPr>
          <p:cNvPr id="8" name="ikon Referal pasien lingkaran"/>
          <p:cNvSpPr/>
          <p:nvPr/>
        </p:nvSpPr>
        <p:spPr>
          <a:xfrm>
            <a:off x="4572000" y="1737360"/>
            <a:ext cx="685800" cy="685800"/>
          </a:xfrm>
          <a:prstGeom prst="ellipse">
            <a:avLst/>
          </a:prstGeom>
          <a:solidFill>
            <a:schemeClr val="accent1"/>
          </a:solidFill>
          <a:ln w="12700">
            <a:solidFill>
              <a:schemeClr val="accent1"/>
            </a:solidFill>
            <a:prstDash val="solid"/>
          </a:ln>
        </p:spPr>
      </p:sp>
      <p:pic>
        <p:nvPicPr>
          <p:cNvPr id="9" name="ikon Referal pasien" descr="ikon Referal pasien">    </p:cNvPr>
          <p:cNvPicPr>
            <a:picLocks noChangeAspect="1"/>
          </p:cNvPicPr>
          <p:nvPr/>
        </p:nvPicPr>
        <p:blipFill>
          <a:blip r:embed="rId2"/>
          <a:stretch>
            <a:fillRect/>
          </a:stretch>
        </p:blipFill>
        <p:spPr>
          <a:xfrm>
            <a:off x="4750308" y="1915668"/>
            <a:ext cx="329184" cy="329184"/>
          </a:xfrm>
          <a:prstGeom prst="rect">
            <a:avLst/>
          </a:prstGeom>
        </p:spPr>
      </p:pic>
      <p:sp>
        <p:nvSpPr>
          <p:cNvPr id="10" name="teks Referal pasien"/>
          <p:cNvSpPr txBox="1"/>
          <p:nvPr/>
        </p:nvSpPr>
        <p:spPr>
          <a:xfrm>
            <a:off x="4572000" y="2560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Referal pasien</a:t>
            </a:r>
            <a:endParaRPr lang="en-US" sz="1900" dirty="0"/>
          </a:p>
          <a:p>
            <a:pPr indent="0" marL="0">
              <a:buNone/>
            </a:pPr>
            <a:r>
              <a:rPr lang="en-US" sz="1500" dirty="0">
                <a:solidFill>
                  <a:schemeClr val="tx1"/>
                </a:solidFill>
              </a:rPr>
              <a:t>Catat dokter atau mitra perujuk beserta komisinya</a:t>
            </a:r>
            <a:endParaRPr lang="en-US" sz="1900" dirty="0"/>
          </a:p>
        </p:txBody>
      </p:sp>
      <p:sp>
        <p:nvSpPr>
          <p:cNvPr id="11" name="kartu Rekap rekam terapi"/>
          <p:cNvSpPr/>
          <p:nvPr/>
        </p:nvSpPr>
        <p:spPr>
          <a:xfrm>
            <a:off x="8046720" y="1463040"/>
            <a:ext cx="3566160" cy="2057400"/>
          </a:xfrm>
          <a:prstGeom prst="roundRect">
            <a:avLst>
              <a:gd name="adj" fmla="val 6667"/>
            </a:avLst>
          </a:prstGeom>
          <a:solidFill>
            <a:schemeClr val="bg2"/>
          </a:solidFill>
          <a:ln w="12700">
            <a:solidFill>
              <a:schemeClr val="bg2"/>
            </a:solidFill>
            <a:prstDash val="solid"/>
          </a:ln>
        </p:spPr>
      </p:sp>
      <p:sp>
        <p:nvSpPr>
          <p:cNvPr id="12" name="ikon Rekap rekam terapi lingkaran"/>
          <p:cNvSpPr/>
          <p:nvPr/>
        </p:nvSpPr>
        <p:spPr>
          <a:xfrm>
            <a:off x="8321040" y="1737360"/>
            <a:ext cx="685800" cy="685800"/>
          </a:xfrm>
          <a:prstGeom prst="ellipse">
            <a:avLst/>
          </a:prstGeom>
          <a:solidFill>
            <a:schemeClr val="accent1"/>
          </a:solidFill>
          <a:ln w="12700">
            <a:solidFill>
              <a:schemeClr val="accent1"/>
            </a:solidFill>
            <a:prstDash val="solid"/>
          </a:ln>
        </p:spPr>
      </p:sp>
      <p:pic>
        <p:nvPicPr>
          <p:cNvPr id="13" name="ikon Rekap rekam terapi" descr="ikon Rekap rekam terapi">    </p:cNvPr>
          <p:cNvPicPr>
            <a:picLocks noChangeAspect="1"/>
          </p:cNvPicPr>
          <p:nvPr/>
        </p:nvPicPr>
        <p:blipFill>
          <a:blip r:embed="rId3"/>
          <a:stretch>
            <a:fillRect/>
          </a:stretch>
        </p:blipFill>
        <p:spPr>
          <a:xfrm>
            <a:off x="8499348" y="1915668"/>
            <a:ext cx="329184" cy="329184"/>
          </a:xfrm>
          <a:prstGeom prst="rect">
            <a:avLst/>
          </a:prstGeom>
        </p:spPr>
      </p:pic>
      <p:sp>
        <p:nvSpPr>
          <p:cNvPr id="14" name="teks Rekap rekam terapi"/>
          <p:cNvSpPr txBox="1"/>
          <p:nvPr/>
        </p:nvSpPr>
        <p:spPr>
          <a:xfrm>
            <a:off x="8321040" y="2560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Rekap rekam terapi</a:t>
            </a:r>
            <a:endParaRPr lang="en-US" sz="1900" dirty="0"/>
          </a:p>
          <a:p>
            <a:pPr indent="0" marL="0">
              <a:buNone/>
            </a:pPr>
            <a:r>
              <a:rPr lang="en-US" sz="1500" dirty="0">
                <a:solidFill>
                  <a:schemeClr val="tx1"/>
                </a:solidFill>
              </a:rPr>
              <a:t>Riwayat tindakan dan evaluasi setiap pasien</a:t>
            </a:r>
            <a:endParaRPr lang="en-US" sz="1900" dirty="0"/>
          </a:p>
        </p:txBody>
      </p:sp>
      <p:sp>
        <p:nvSpPr>
          <p:cNvPr id="15" name="kartu Akun staf &amp; hak akses"/>
          <p:cNvSpPr/>
          <p:nvPr/>
        </p:nvSpPr>
        <p:spPr>
          <a:xfrm>
            <a:off x="548640" y="3749040"/>
            <a:ext cx="3566160" cy="2057400"/>
          </a:xfrm>
          <a:prstGeom prst="roundRect">
            <a:avLst>
              <a:gd name="adj" fmla="val 6667"/>
            </a:avLst>
          </a:prstGeom>
          <a:solidFill>
            <a:schemeClr val="bg2"/>
          </a:solidFill>
          <a:ln w="12700">
            <a:solidFill>
              <a:schemeClr val="bg2"/>
            </a:solidFill>
            <a:prstDash val="solid"/>
          </a:ln>
        </p:spPr>
      </p:sp>
      <p:sp>
        <p:nvSpPr>
          <p:cNvPr id="16" name="ikon Akun staf &amp; hak akses lingkaran"/>
          <p:cNvSpPr/>
          <p:nvPr/>
        </p:nvSpPr>
        <p:spPr>
          <a:xfrm>
            <a:off x="822960" y="4023360"/>
            <a:ext cx="685800" cy="685800"/>
          </a:xfrm>
          <a:prstGeom prst="ellipse">
            <a:avLst/>
          </a:prstGeom>
          <a:solidFill>
            <a:schemeClr val="accent1"/>
          </a:solidFill>
          <a:ln w="12700">
            <a:solidFill>
              <a:schemeClr val="accent1"/>
            </a:solidFill>
            <a:prstDash val="solid"/>
          </a:ln>
        </p:spPr>
      </p:sp>
      <p:pic>
        <p:nvPicPr>
          <p:cNvPr id="17" name="ikon Akun staf &amp; hak akses" descr="ikon Akun staf &amp; hak akses">    </p:cNvPr>
          <p:cNvPicPr>
            <a:picLocks noChangeAspect="1"/>
          </p:cNvPicPr>
          <p:nvPr/>
        </p:nvPicPr>
        <p:blipFill>
          <a:blip r:embed="rId4"/>
          <a:stretch>
            <a:fillRect/>
          </a:stretch>
        </p:blipFill>
        <p:spPr>
          <a:xfrm>
            <a:off x="1001268" y="4201668"/>
            <a:ext cx="329184" cy="329184"/>
          </a:xfrm>
          <a:prstGeom prst="rect">
            <a:avLst/>
          </a:prstGeom>
        </p:spPr>
      </p:pic>
      <p:sp>
        <p:nvSpPr>
          <p:cNvPr id="18" name="teks Akun staf &amp; hak akses"/>
          <p:cNvSpPr txBox="1"/>
          <p:nvPr/>
        </p:nvSpPr>
        <p:spPr>
          <a:xfrm>
            <a:off x="822960" y="4846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Akun staf &amp; hak akses</a:t>
            </a:r>
            <a:endParaRPr lang="en-US" sz="1900" dirty="0"/>
          </a:p>
          <a:p>
            <a:pPr indent="0" marL="0">
              <a:buNone/>
            </a:pPr>
            <a:r>
              <a:rPr lang="en-US" sz="1500" dirty="0">
                <a:solidFill>
                  <a:schemeClr val="tx1"/>
                </a:solidFill>
              </a:rPr>
              <a:t>Role admin dan operator</a:t>
            </a:r>
            <a:endParaRPr lang="en-US" sz="1900" dirty="0"/>
          </a:p>
        </p:txBody>
      </p:sp>
      <p:sp>
        <p:nvSpPr>
          <p:cNvPr id="19" name="kartu Stok peralatan terapi"/>
          <p:cNvSpPr/>
          <p:nvPr/>
        </p:nvSpPr>
        <p:spPr>
          <a:xfrm>
            <a:off x="4297680" y="3749040"/>
            <a:ext cx="3566160" cy="2057400"/>
          </a:xfrm>
          <a:prstGeom prst="roundRect">
            <a:avLst>
              <a:gd name="adj" fmla="val 6667"/>
            </a:avLst>
          </a:prstGeom>
          <a:solidFill>
            <a:schemeClr val="bg2"/>
          </a:solidFill>
          <a:ln w="12700">
            <a:solidFill>
              <a:schemeClr val="bg2"/>
            </a:solidFill>
            <a:prstDash val="solid"/>
          </a:ln>
        </p:spPr>
      </p:sp>
      <p:sp>
        <p:nvSpPr>
          <p:cNvPr id="20" name="ikon Stok peralatan terapi lingkaran"/>
          <p:cNvSpPr/>
          <p:nvPr/>
        </p:nvSpPr>
        <p:spPr>
          <a:xfrm>
            <a:off x="4572000" y="4023360"/>
            <a:ext cx="685800" cy="685800"/>
          </a:xfrm>
          <a:prstGeom prst="ellipse">
            <a:avLst/>
          </a:prstGeom>
          <a:solidFill>
            <a:schemeClr val="accent1"/>
          </a:solidFill>
          <a:ln w="12700">
            <a:solidFill>
              <a:schemeClr val="accent1"/>
            </a:solidFill>
            <a:prstDash val="solid"/>
          </a:ln>
        </p:spPr>
      </p:sp>
      <p:pic>
        <p:nvPicPr>
          <p:cNvPr id="21" name="ikon Stok peralatan terapi" descr="ikon Stok peralatan terapi">    </p:cNvPr>
          <p:cNvPicPr>
            <a:picLocks noChangeAspect="1"/>
          </p:cNvPicPr>
          <p:nvPr/>
        </p:nvPicPr>
        <p:blipFill>
          <a:blip r:embed="rId5"/>
          <a:stretch>
            <a:fillRect/>
          </a:stretch>
        </p:blipFill>
        <p:spPr>
          <a:xfrm>
            <a:off x="4750308" y="4201668"/>
            <a:ext cx="329184" cy="329184"/>
          </a:xfrm>
          <a:prstGeom prst="rect">
            <a:avLst/>
          </a:prstGeom>
        </p:spPr>
      </p:pic>
      <p:sp>
        <p:nvSpPr>
          <p:cNvPr id="22" name="teks Stok peralatan terapi"/>
          <p:cNvSpPr txBox="1"/>
          <p:nvPr/>
        </p:nvSpPr>
        <p:spPr>
          <a:xfrm>
            <a:off x="4572000" y="4846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Stok peralatan terapi</a:t>
            </a:r>
            <a:endParaRPr lang="en-US" sz="1900" dirty="0"/>
          </a:p>
          <a:p>
            <a:pPr indent="0" marL="0">
              <a:buNone/>
            </a:pPr>
            <a:r>
              <a:rPr lang="en-US" sz="1500" dirty="0">
                <a:solidFill>
                  <a:schemeClr val="tx1"/>
                </a:solidFill>
              </a:rPr>
              <a:t>Pantau jumlah dan kondisi alat</a:t>
            </a:r>
            <a:endParaRPr lang="en-US" sz="1900" dirty="0"/>
          </a:p>
        </p:txBody>
      </p:sp>
      <p:sp>
        <p:nvSpPr>
          <p:cNvPr id="23" name="kartu Panduan bergambar"/>
          <p:cNvSpPr/>
          <p:nvPr/>
        </p:nvSpPr>
        <p:spPr>
          <a:xfrm>
            <a:off x="8046720" y="3749040"/>
            <a:ext cx="3566160" cy="2057400"/>
          </a:xfrm>
          <a:prstGeom prst="roundRect">
            <a:avLst>
              <a:gd name="adj" fmla="val 6667"/>
            </a:avLst>
          </a:prstGeom>
          <a:solidFill>
            <a:schemeClr val="bg2"/>
          </a:solidFill>
          <a:ln w="12700">
            <a:solidFill>
              <a:schemeClr val="bg2"/>
            </a:solidFill>
            <a:prstDash val="solid"/>
          </a:ln>
        </p:spPr>
      </p:sp>
      <p:sp>
        <p:nvSpPr>
          <p:cNvPr id="24" name="ikon Panduan bergambar lingkaran"/>
          <p:cNvSpPr/>
          <p:nvPr/>
        </p:nvSpPr>
        <p:spPr>
          <a:xfrm>
            <a:off x="8321040" y="4023360"/>
            <a:ext cx="685800" cy="685800"/>
          </a:xfrm>
          <a:prstGeom prst="ellipse">
            <a:avLst/>
          </a:prstGeom>
          <a:solidFill>
            <a:schemeClr val="accent1"/>
          </a:solidFill>
          <a:ln w="12700">
            <a:solidFill>
              <a:schemeClr val="accent1"/>
            </a:solidFill>
            <a:prstDash val="solid"/>
          </a:ln>
        </p:spPr>
      </p:sp>
      <p:pic>
        <p:nvPicPr>
          <p:cNvPr id="25" name="ikon Panduan bergambar" descr="ikon Panduan bergambar">    </p:cNvPr>
          <p:cNvPicPr>
            <a:picLocks noChangeAspect="1"/>
          </p:cNvPicPr>
          <p:nvPr/>
        </p:nvPicPr>
        <p:blipFill>
          <a:blip r:embed="rId6"/>
          <a:stretch>
            <a:fillRect/>
          </a:stretch>
        </p:blipFill>
        <p:spPr>
          <a:xfrm>
            <a:off x="8499348" y="4201668"/>
            <a:ext cx="329184" cy="329184"/>
          </a:xfrm>
          <a:prstGeom prst="rect">
            <a:avLst/>
          </a:prstGeom>
        </p:spPr>
      </p:pic>
      <p:sp>
        <p:nvSpPr>
          <p:cNvPr id="26" name="teks Panduan bergambar"/>
          <p:cNvSpPr txBox="1"/>
          <p:nvPr/>
        </p:nvSpPr>
        <p:spPr>
          <a:xfrm>
            <a:off x="8321040" y="4846320"/>
            <a:ext cx="3063240" cy="868680"/>
          </a:xfrm>
          <a:prstGeom prst="rect">
            <a:avLst/>
          </a:prstGeom>
          <a:noFill/>
          <a:ln/>
        </p:spPr>
        <p:txBody>
          <a:bodyPr wrap="square" lIns="0" tIns="0" rIns="0" bIns="0" rtlCol="0" anchor="t"/>
          <a:lstStyle/>
          <a:p>
            <a:pPr indent="0" marL="0">
              <a:buNone/>
            </a:pPr>
            <a:r>
              <a:rPr lang="en-US" sz="1900" b="1" dirty="0">
                <a:solidFill>
                  <a:schemeClr val="tx2"/>
                </a:solidFill>
              </a:rPr>
              <a:t>Panduan bergambar</a:t>
            </a:r>
            <a:endParaRPr lang="en-US" sz="1900" dirty="0"/>
          </a:p>
          <a:p>
            <a:pPr indent="0" marL="0">
              <a:buNone/>
            </a:pPr>
            <a:r>
              <a:rPr lang="en-US" sz="1500" dirty="0">
                <a:solidFill>
                  <a:schemeClr val="tx1"/>
                </a:solidFill>
              </a:rPr>
              <a:t>Di menu Bantuan → Panduan Penggunaan</a:t>
            </a:r>
            <a:endParaRPr lang="en-US" sz="19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Paket langganan</a:t>
            </a:r>
            <a:endParaRPr lang="en-US" sz="3600" dirty="0"/>
          </a:p>
        </p:txBody>
      </p:sp>
      <p:sp>
        <p:nvSpPr>
          <p:cNvPr id="3" name="kartu Paket 6 Bulan"/>
          <p:cNvSpPr/>
          <p:nvPr/>
        </p:nvSpPr>
        <p:spPr>
          <a:xfrm>
            <a:off x="548640" y="1417320"/>
            <a:ext cx="3566160" cy="4023360"/>
          </a:xfrm>
          <a:prstGeom prst="roundRect">
            <a:avLst>
              <a:gd name="adj" fmla="val 5128"/>
            </a:avLst>
          </a:prstGeom>
          <a:solidFill>
            <a:schemeClr val="bg2"/>
          </a:solidFill>
          <a:ln w="12700">
            <a:solidFill>
              <a:schemeClr val="bg2"/>
            </a:solidFill>
            <a:prstDash val="solid"/>
          </a:ln>
        </p:spPr>
      </p:sp>
      <p:sp>
        <p:nvSpPr>
          <p:cNvPr id="4" name="nama Paket 6 Bulan"/>
          <p:cNvSpPr txBox="1"/>
          <p:nvPr/>
        </p:nvSpPr>
        <p:spPr>
          <a:xfrm>
            <a:off x="868680" y="1691640"/>
            <a:ext cx="2926080" cy="868680"/>
          </a:xfrm>
          <a:prstGeom prst="rect">
            <a:avLst/>
          </a:prstGeom>
          <a:noFill/>
          <a:ln/>
        </p:spPr>
        <p:txBody>
          <a:bodyPr wrap="square" lIns="0" tIns="0" rIns="0" bIns="0" rtlCol="0" anchor="t"/>
          <a:lstStyle/>
          <a:p>
            <a:pPr indent="0" marL="0">
              <a:buNone/>
            </a:pPr>
            <a:r>
              <a:rPr lang="en-US" sz="2200" b="1" dirty="0">
                <a:solidFill>
                  <a:schemeClr val="tx2"/>
                </a:solidFill>
              </a:rPr>
              <a:t>Paket 6 Bulan</a:t>
            </a:r>
            <a:endParaRPr lang="en-US" sz="2200" dirty="0"/>
          </a:p>
          <a:p>
            <a:pPr indent="0" marL="0">
              <a:buNone/>
            </a:pPr>
            <a:r>
              <a:rPr lang="en-US" sz="1500" dirty="0">
                <a:solidFill>
                  <a:schemeClr val="tx1"/>
                </a:solidFill>
              </a:rPr>
              <a:t>Paket awal paling fleksibel</a:t>
            </a:r>
            <a:endParaRPr lang="en-US" sz="2200" dirty="0"/>
          </a:p>
        </p:txBody>
      </p:sp>
      <p:sp>
        <p:nvSpPr>
          <p:cNvPr id="5" name="harga Paket 6 Bulan"/>
          <p:cNvSpPr txBox="1"/>
          <p:nvPr/>
        </p:nvSpPr>
        <p:spPr>
          <a:xfrm>
            <a:off x="868680" y="2971800"/>
            <a:ext cx="3017520" cy="1188720"/>
          </a:xfrm>
          <a:prstGeom prst="rect">
            <a:avLst/>
          </a:prstGeom>
          <a:noFill/>
          <a:ln/>
        </p:spPr>
        <p:txBody>
          <a:bodyPr wrap="square" lIns="0" tIns="0" rIns="0" bIns="0" rtlCol="0" anchor="t"/>
          <a:lstStyle/>
          <a:p>
            <a:pPr indent="0" marL="0">
              <a:buNone/>
            </a:pPr>
            <a:r>
              <a:rPr lang="en-US" sz="3400" b="1" dirty="0">
                <a:solidFill>
                  <a:schemeClr val="tx2"/>
                </a:solidFill>
              </a:rPr>
              <a:t>Rp 1.500.000</a:t>
            </a:r>
            <a:endParaRPr lang="en-US" sz="3400" dirty="0"/>
          </a:p>
          <a:p>
            <a:pPr indent="0" marL="0">
              <a:buNone/>
            </a:pPr>
            <a:r>
              <a:rPr lang="en-US" sz="1600" dirty="0">
                <a:solidFill>
                  <a:schemeClr val="tx1"/>
                </a:solidFill>
              </a:rPr>
              <a:t>± Rp 250.000 / bulan</a:t>
            </a:r>
            <a:endParaRPr lang="en-US" sz="3400" dirty="0"/>
          </a:p>
        </p:txBody>
      </p:sp>
      <p:sp>
        <p:nvSpPr>
          <p:cNvPr id="6" name="kartu Paket 1 Tahun"/>
          <p:cNvSpPr/>
          <p:nvPr/>
        </p:nvSpPr>
        <p:spPr>
          <a:xfrm>
            <a:off x="4343400" y="1417320"/>
            <a:ext cx="3566160" cy="4023360"/>
          </a:xfrm>
          <a:prstGeom prst="roundRect">
            <a:avLst>
              <a:gd name="adj" fmla="val 5128"/>
            </a:avLst>
          </a:prstGeom>
          <a:solidFill>
            <a:schemeClr val="tx2"/>
          </a:solidFill>
          <a:ln w="12700">
            <a:solidFill>
              <a:schemeClr val="tx2"/>
            </a:solidFill>
            <a:prstDash val="solid"/>
          </a:ln>
          <a:effectLst>
            <a:outerShdw sx="100000" sy="100000" kx="0" ky="0" algn="bl" rotWithShape="0" blurRad="101600" dist="25400" dir="5400000">
              <a:srgbClr val="0B3C49">
                <a:alpha val="18000"/>
              </a:srgbClr>
            </a:outerShdw>
          </a:effectLst>
        </p:spPr>
      </p:sp>
      <p:sp>
        <p:nvSpPr>
          <p:cNvPr id="7" name="nama Paket 1 Tahun"/>
          <p:cNvSpPr txBox="1"/>
          <p:nvPr/>
        </p:nvSpPr>
        <p:spPr>
          <a:xfrm>
            <a:off x="4663440" y="1691640"/>
            <a:ext cx="2926080" cy="868680"/>
          </a:xfrm>
          <a:prstGeom prst="rect">
            <a:avLst/>
          </a:prstGeom>
          <a:noFill/>
          <a:ln/>
        </p:spPr>
        <p:txBody>
          <a:bodyPr wrap="square" lIns="0" tIns="0" rIns="0" bIns="0" rtlCol="0" anchor="t"/>
          <a:lstStyle/>
          <a:p>
            <a:pPr indent="0" marL="0">
              <a:buNone/>
            </a:pPr>
            <a:r>
              <a:rPr lang="en-US" sz="2200" b="1" dirty="0">
                <a:solidFill>
                  <a:srgbClr val="FFFFFF"/>
                </a:solidFill>
              </a:rPr>
              <a:t>Paket 1 Tahun</a:t>
            </a:r>
            <a:endParaRPr lang="en-US" sz="2200" dirty="0"/>
          </a:p>
          <a:p>
            <a:pPr indent="0" marL="0">
              <a:buNone/>
            </a:pPr>
            <a:r>
              <a:rPr lang="en-US" sz="1500" dirty="0">
                <a:solidFill>
                  <a:srgbClr val="CDE7E6"/>
                </a:solidFill>
              </a:rPr>
              <a:t>Komitmen 12 bulan</a:t>
            </a:r>
            <a:endParaRPr lang="en-US" sz="2200" dirty="0"/>
          </a:p>
        </p:txBody>
      </p:sp>
      <p:sp>
        <p:nvSpPr>
          <p:cNvPr id="8" name="harga Paket 1 Tahun"/>
          <p:cNvSpPr txBox="1"/>
          <p:nvPr/>
        </p:nvSpPr>
        <p:spPr>
          <a:xfrm>
            <a:off x="4663440" y="2971800"/>
            <a:ext cx="3017520" cy="1188720"/>
          </a:xfrm>
          <a:prstGeom prst="rect">
            <a:avLst/>
          </a:prstGeom>
          <a:noFill/>
          <a:ln/>
        </p:spPr>
        <p:txBody>
          <a:bodyPr wrap="square" lIns="0" tIns="0" rIns="0" bIns="0" rtlCol="0" anchor="t"/>
          <a:lstStyle/>
          <a:p>
            <a:pPr indent="0" marL="0">
              <a:buNone/>
            </a:pPr>
            <a:r>
              <a:rPr lang="en-US" sz="3400" b="1" dirty="0">
                <a:solidFill>
                  <a:srgbClr val="FFFFFF"/>
                </a:solidFill>
              </a:rPr>
              <a:t>Rp 2.400.000</a:t>
            </a:r>
            <a:endParaRPr lang="en-US" sz="3400" dirty="0"/>
          </a:p>
          <a:p>
            <a:pPr indent="0" marL="0">
              <a:buNone/>
            </a:pPr>
            <a:r>
              <a:rPr lang="en-US" sz="1600" dirty="0">
                <a:solidFill>
                  <a:srgbClr val="CDE7E6"/>
                </a:solidFill>
              </a:rPr>
              <a:t>± Rp 200.000 / bulan</a:t>
            </a:r>
            <a:endParaRPr lang="en-US" sz="3400" dirty="0"/>
          </a:p>
        </p:txBody>
      </p:sp>
      <p:sp>
        <p:nvSpPr>
          <p:cNvPr id="9" name="label hemat"/>
          <p:cNvSpPr/>
          <p:nvPr/>
        </p:nvSpPr>
        <p:spPr>
          <a:xfrm>
            <a:off x="4663440" y="4572000"/>
            <a:ext cx="1463040" cy="411480"/>
          </a:xfrm>
          <a:prstGeom prst="roundRect">
            <a:avLst>
              <a:gd name="adj" fmla="val 22222"/>
            </a:avLst>
          </a:prstGeom>
          <a:solidFill>
            <a:schemeClr val="accent2"/>
          </a:solidFill>
          <a:ln w="12700">
            <a:solidFill>
              <a:schemeClr val="accent2"/>
            </a:solidFill>
            <a:prstDash val="solid"/>
          </a:ln>
        </p:spPr>
      </p:sp>
      <p:sp>
        <p:nvSpPr>
          <p:cNvPr id="10" name="teks label hemat"/>
          <p:cNvSpPr txBox="1"/>
          <p:nvPr/>
        </p:nvSpPr>
        <p:spPr>
          <a:xfrm>
            <a:off x="4663440" y="4572000"/>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rPr>
              <a:t>Paling hemat</a:t>
            </a:r>
            <a:endParaRPr lang="en-US" sz="1300" dirty="0"/>
          </a:p>
        </p:txBody>
      </p:sp>
      <p:sp>
        <p:nvSpPr>
          <p:cNvPr id="11" name="kartu uji coba"/>
          <p:cNvSpPr/>
          <p:nvPr/>
        </p:nvSpPr>
        <p:spPr>
          <a:xfrm>
            <a:off x="8183880" y="1417320"/>
            <a:ext cx="3429000" cy="4023360"/>
          </a:xfrm>
          <a:prstGeom prst="roundRect">
            <a:avLst>
              <a:gd name="adj" fmla="val 4000"/>
            </a:avLst>
          </a:prstGeom>
          <a:solidFill>
            <a:schemeClr val="bg2"/>
          </a:solidFill>
          <a:ln w="12700">
            <a:solidFill>
              <a:schemeClr val="bg2"/>
            </a:solidFill>
            <a:prstDash val="solid"/>
          </a:ln>
        </p:spPr>
      </p:sp>
      <p:sp>
        <p:nvSpPr>
          <p:cNvPr id="12" name="ikon uji coba lingkaran"/>
          <p:cNvSpPr/>
          <p:nvPr/>
        </p:nvSpPr>
        <p:spPr>
          <a:xfrm>
            <a:off x="9418320" y="1737360"/>
            <a:ext cx="960120" cy="960120"/>
          </a:xfrm>
          <a:prstGeom prst="ellipse">
            <a:avLst/>
          </a:prstGeom>
          <a:solidFill>
            <a:schemeClr val="accent2"/>
          </a:solidFill>
          <a:ln w="12700">
            <a:solidFill>
              <a:schemeClr val="accent2"/>
            </a:solidFill>
            <a:prstDash val="solid"/>
          </a:ln>
        </p:spPr>
      </p:sp>
      <p:pic>
        <p:nvPicPr>
          <p:cNvPr id="13" name="ikon uji coba" descr="ikon uji coba">    </p:cNvPr>
          <p:cNvPicPr>
            <a:picLocks noChangeAspect="1"/>
          </p:cNvPicPr>
          <p:nvPr/>
        </p:nvPicPr>
        <p:blipFill>
          <a:blip r:embed="rId1"/>
          <a:stretch>
            <a:fillRect/>
          </a:stretch>
        </p:blipFill>
        <p:spPr>
          <a:xfrm>
            <a:off x="9667951" y="1986991"/>
            <a:ext cx="460858" cy="460858"/>
          </a:xfrm>
          <a:prstGeom prst="rect">
            <a:avLst/>
          </a:prstGeom>
        </p:spPr>
      </p:pic>
      <p:sp>
        <p:nvSpPr>
          <p:cNvPr id="14" name="teks uji coba"/>
          <p:cNvSpPr txBox="1"/>
          <p:nvPr/>
        </p:nvSpPr>
        <p:spPr>
          <a:xfrm>
            <a:off x="8412480" y="2880360"/>
            <a:ext cx="2971800" cy="2286000"/>
          </a:xfrm>
          <a:prstGeom prst="rect">
            <a:avLst/>
          </a:prstGeom>
          <a:noFill/>
          <a:ln/>
        </p:spPr>
        <p:txBody>
          <a:bodyPr wrap="square" lIns="0" tIns="0" rIns="0" bIns="0" rtlCol="0" anchor="t"/>
          <a:lstStyle/>
          <a:p>
            <a:pPr algn="ctr" indent="0" marL="0">
              <a:buNone/>
            </a:pPr>
            <a:r>
              <a:rPr lang="en-US" sz="1600" dirty="0">
                <a:solidFill>
                  <a:schemeClr val="tx1"/>
                </a:solidFill>
              </a:rPr>
              <a:t>Uji coba gratis</a:t>
            </a:r>
            <a:endParaRPr lang="en-US" sz="1600" dirty="0"/>
          </a:p>
          <a:p>
            <a:pPr algn="ctr" indent="0" marL="0">
              <a:buNone/>
            </a:pPr>
            <a:r>
              <a:rPr lang="en-US" sz="4000" b="1" dirty="0">
                <a:solidFill>
                  <a:schemeClr val="tx2"/>
                </a:solidFill>
              </a:rPr>
              <a:t>14 hari</a:t>
            </a:r>
            <a:endParaRPr lang="en-US" sz="1600" dirty="0"/>
          </a:p>
          <a:p>
            <a:pPr algn="ctr" indent="0" marL="0">
              <a:buNone/>
            </a:pPr>
            <a:r>
              <a:rPr lang="en-US" sz="1500" dirty="0">
                <a:solidFill>
                  <a:schemeClr val="tx1"/>
                </a:solidFill>
              </a:rPr>
              <a:t>Tanpa kartu kredit, langsung bisa dipakai</a:t>
            </a:r>
            <a:endParaRPr lang="en-US" sz="1600" dirty="0"/>
          </a:p>
        </p:txBody>
      </p:sp>
      <p:sp>
        <p:nvSpPr>
          <p:cNvPr id="15" name="catatan harga"/>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200" i="1" dirty="0">
                <a:solidFill>
                  <a:srgbClr val="6B7F83"/>
                </a:solidFill>
              </a:rPr>
              <a:t>Harga dan masa uji coba dapat berubah. Informasi terbaru tampil di halaman pendaftaran klinik.</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Cara beli &amp; perpanjang paket</a:t>
            </a:r>
            <a:endParaRPr lang="en-US" sz="3600" dirty="0"/>
          </a:p>
        </p:txBody>
      </p:sp>
      <p:sp>
        <p:nvSpPr>
          <p:cNvPr id="3" name="beli paket 1 lingkaran"/>
          <p:cNvSpPr/>
          <p:nvPr/>
        </p:nvSpPr>
        <p:spPr>
          <a:xfrm>
            <a:off x="548640" y="1481328"/>
            <a:ext cx="566928" cy="566928"/>
          </a:xfrm>
          <a:prstGeom prst="ellipse">
            <a:avLst/>
          </a:prstGeom>
          <a:solidFill>
            <a:schemeClr val="accent1"/>
          </a:solidFill>
          <a:ln w="12700">
            <a:solidFill>
              <a:schemeClr val="accent1"/>
            </a:solidFill>
            <a:prstDash val="solid"/>
          </a:ln>
        </p:spPr>
      </p:sp>
      <p:pic>
        <p:nvPicPr>
          <p:cNvPr id="4" name="beli paket 1" descr="beli paket 1">    </p:cNvPr>
          <p:cNvPicPr>
            <a:picLocks noChangeAspect="1"/>
          </p:cNvPicPr>
          <p:nvPr/>
        </p:nvPicPr>
        <p:blipFill>
          <a:blip r:embed="rId1"/>
          <a:stretch>
            <a:fillRect/>
          </a:stretch>
        </p:blipFill>
        <p:spPr>
          <a:xfrm>
            <a:off x="696041" y="1628729"/>
            <a:ext cx="272125" cy="272125"/>
          </a:xfrm>
          <a:prstGeom prst="rect">
            <a:avLst/>
          </a:prstGeom>
        </p:spPr>
      </p:pic>
      <p:sp>
        <p:nvSpPr>
          <p:cNvPr id="5" name="beli paket 1 teks"/>
          <p:cNvSpPr txBox="1"/>
          <p:nvPr/>
        </p:nvSpPr>
        <p:spPr>
          <a:xfrm>
            <a:off x="1298448" y="1463040"/>
            <a:ext cx="4187952" cy="960120"/>
          </a:xfrm>
          <a:prstGeom prst="rect">
            <a:avLst/>
          </a:prstGeom>
          <a:noFill/>
          <a:ln/>
        </p:spPr>
        <p:txBody>
          <a:bodyPr wrap="square" lIns="0" tIns="0" rIns="0" bIns="0" rtlCol="0" anchor="t"/>
          <a:lstStyle/>
          <a:p>
            <a:pPr indent="0" marL="0">
              <a:buNone/>
            </a:pPr>
            <a:r>
              <a:rPr lang="en-US" sz="1800" b="1" dirty="0">
                <a:solidFill>
                  <a:schemeClr val="tx2"/>
                </a:solidFill>
              </a:rPr>
              <a:t>1. Pilih paket</a:t>
            </a:r>
            <a:endParaRPr lang="en-US" sz="1800" dirty="0"/>
          </a:p>
          <a:p>
            <a:pPr indent="0" marL="0">
              <a:buNone/>
            </a:pPr>
            <a:r>
              <a:rPr lang="en-US" sz="1500" dirty="0">
                <a:solidFill>
                  <a:schemeClr val="tx1"/>
                </a:solidFill>
              </a:rPr>
              <a:t>Menu Settings → Langganan Paket</a:t>
            </a:r>
            <a:endParaRPr lang="en-US" sz="1800" dirty="0"/>
          </a:p>
        </p:txBody>
      </p:sp>
      <p:sp>
        <p:nvSpPr>
          <p:cNvPr id="6" name="beli paket 2 lingkaran"/>
          <p:cNvSpPr/>
          <p:nvPr/>
        </p:nvSpPr>
        <p:spPr>
          <a:xfrm>
            <a:off x="548640" y="2596896"/>
            <a:ext cx="566928" cy="566928"/>
          </a:xfrm>
          <a:prstGeom prst="ellipse">
            <a:avLst/>
          </a:prstGeom>
          <a:solidFill>
            <a:schemeClr val="accent1"/>
          </a:solidFill>
          <a:ln w="12700">
            <a:solidFill>
              <a:schemeClr val="accent1"/>
            </a:solidFill>
            <a:prstDash val="solid"/>
          </a:ln>
        </p:spPr>
      </p:sp>
      <p:pic>
        <p:nvPicPr>
          <p:cNvPr id="7" name="beli paket 2" descr="beli paket 2">    </p:cNvPr>
          <p:cNvPicPr>
            <a:picLocks noChangeAspect="1"/>
          </p:cNvPicPr>
          <p:nvPr/>
        </p:nvPicPr>
        <p:blipFill>
          <a:blip r:embed="rId2"/>
          <a:stretch>
            <a:fillRect/>
          </a:stretch>
        </p:blipFill>
        <p:spPr>
          <a:xfrm>
            <a:off x="696041" y="2744297"/>
            <a:ext cx="272125" cy="272125"/>
          </a:xfrm>
          <a:prstGeom prst="rect">
            <a:avLst/>
          </a:prstGeom>
        </p:spPr>
      </p:pic>
      <p:sp>
        <p:nvSpPr>
          <p:cNvPr id="8" name="beli paket 2 teks"/>
          <p:cNvSpPr txBox="1"/>
          <p:nvPr/>
        </p:nvSpPr>
        <p:spPr>
          <a:xfrm>
            <a:off x="1298448" y="2578608"/>
            <a:ext cx="4187952" cy="960120"/>
          </a:xfrm>
          <a:prstGeom prst="rect">
            <a:avLst/>
          </a:prstGeom>
          <a:noFill/>
          <a:ln/>
        </p:spPr>
        <p:txBody>
          <a:bodyPr wrap="square" lIns="0" tIns="0" rIns="0" bIns="0" rtlCol="0" anchor="t"/>
          <a:lstStyle/>
          <a:p>
            <a:pPr indent="0" marL="0">
              <a:buNone/>
            </a:pPr>
            <a:r>
              <a:rPr lang="en-US" sz="1800" b="1" dirty="0">
                <a:solidFill>
                  <a:schemeClr val="tx2"/>
                </a:solidFill>
              </a:rPr>
              <a:t>2. Transfer pembayaran</a:t>
            </a:r>
            <a:endParaRPr lang="en-US" sz="1800" dirty="0"/>
          </a:p>
          <a:p>
            <a:pPr indent="0" marL="0">
              <a:buNone/>
            </a:pPr>
            <a:r>
              <a:rPr lang="en-US" sz="1500" dirty="0">
                <a:solidFill>
                  <a:schemeClr val="tx1"/>
                </a:solidFill>
              </a:rPr>
              <a:t>Sesuai instruksi rekening di halaman</a:t>
            </a:r>
            <a:endParaRPr lang="en-US" sz="1800" dirty="0"/>
          </a:p>
        </p:txBody>
      </p:sp>
      <p:sp>
        <p:nvSpPr>
          <p:cNvPr id="9" name="beli paket 3 lingkaran"/>
          <p:cNvSpPr/>
          <p:nvPr/>
        </p:nvSpPr>
        <p:spPr>
          <a:xfrm>
            <a:off x="548640" y="3712464"/>
            <a:ext cx="566928" cy="566928"/>
          </a:xfrm>
          <a:prstGeom prst="ellipse">
            <a:avLst/>
          </a:prstGeom>
          <a:solidFill>
            <a:schemeClr val="accent1"/>
          </a:solidFill>
          <a:ln w="12700">
            <a:solidFill>
              <a:schemeClr val="accent1"/>
            </a:solidFill>
            <a:prstDash val="solid"/>
          </a:ln>
        </p:spPr>
      </p:sp>
      <p:pic>
        <p:nvPicPr>
          <p:cNvPr id="10" name="beli paket 3" descr="beli paket 3">    </p:cNvPr>
          <p:cNvPicPr>
            <a:picLocks noChangeAspect="1"/>
          </p:cNvPicPr>
          <p:nvPr/>
        </p:nvPicPr>
        <p:blipFill>
          <a:blip r:embed="rId3"/>
          <a:stretch>
            <a:fillRect/>
          </a:stretch>
        </p:blipFill>
        <p:spPr>
          <a:xfrm>
            <a:off x="696041" y="3859865"/>
            <a:ext cx="272125" cy="272125"/>
          </a:xfrm>
          <a:prstGeom prst="rect">
            <a:avLst/>
          </a:prstGeom>
        </p:spPr>
      </p:pic>
      <p:sp>
        <p:nvSpPr>
          <p:cNvPr id="11" name="beli paket 3 teks"/>
          <p:cNvSpPr txBox="1"/>
          <p:nvPr/>
        </p:nvSpPr>
        <p:spPr>
          <a:xfrm>
            <a:off x="1298448" y="3694176"/>
            <a:ext cx="4187952" cy="960120"/>
          </a:xfrm>
          <a:prstGeom prst="rect">
            <a:avLst/>
          </a:prstGeom>
          <a:noFill/>
          <a:ln/>
        </p:spPr>
        <p:txBody>
          <a:bodyPr wrap="square" lIns="0" tIns="0" rIns="0" bIns="0" rtlCol="0" anchor="t"/>
          <a:lstStyle/>
          <a:p>
            <a:pPr indent="0" marL="0">
              <a:buNone/>
            </a:pPr>
            <a:r>
              <a:rPr lang="en-US" sz="1800" b="1" dirty="0">
                <a:solidFill>
                  <a:schemeClr val="tx2"/>
                </a:solidFill>
              </a:rPr>
              <a:t>3. Unggah bukti &amp; kirim</a:t>
            </a:r>
            <a:endParaRPr lang="en-US" sz="1800" dirty="0"/>
          </a:p>
          <a:p>
            <a:pPr indent="0" marL="0">
              <a:buNone/>
            </a:pPr>
            <a:r>
              <a:rPr lang="en-US" sz="1500" dirty="0">
                <a:solidFill>
                  <a:schemeClr val="tx1"/>
                </a:solidFill>
              </a:rPr>
              <a:t>Bukti bayar bisa menyusul</a:t>
            </a:r>
            <a:endParaRPr lang="en-US" sz="1800" dirty="0"/>
          </a:p>
        </p:txBody>
      </p:sp>
      <p:sp>
        <p:nvSpPr>
          <p:cNvPr id="12" name="beli paket 4 lingkaran"/>
          <p:cNvSpPr/>
          <p:nvPr/>
        </p:nvSpPr>
        <p:spPr>
          <a:xfrm>
            <a:off x="548640" y="4828032"/>
            <a:ext cx="566928" cy="566928"/>
          </a:xfrm>
          <a:prstGeom prst="ellipse">
            <a:avLst/>
          </a:prstGeom>
          <a:solidFill>
            <a:schemeClr val="accent1"/>
          </a:solidFill>
          <a:ln w="12700">
            <a:solidFill>
              <a:schemeClr val="accent1"/>
            </a:solidFill>
            <a:prstDash val="solid"/>
          </a:ln>
        </p:spPr>
      </p:sp>
      <p:pic>
        <p:nvPicPr>
          <p:cNvPr id="13" name="beli paket 4" descr="beli paket 4">    </p:cNvPr>
          <p:cNvPicPr>
            <a:picLocks noChangeAspect="1"/>
          </p:cNvPicPr>
          <p:nvPr/>
        </p:nvPicPr>
        <p:blipFill>
          <a:blip r:embed="rId4"/>
          <a:stretch>
            <a:fillRect/>
          </a:stretch>
        </p:blipFill>
        <p:spPr>
          <a:xfrm>
            <a:off x="696041" y="4975433"/>
            <a:ext cx="272125" cy="272125"/>
          </a:xfrm>
          <a:prstGeom prst="rect">
            <a:avLst/>
          </a:prstGeom>
        </p:spPr>
      </p:pic>
      <p:sp>
        <p:nvSpPr>
          <p:cNvPr id="14" name="beli paket 4 teks"/>
          <p:cNvSpPr txBox="1"/>
          <p:nvPr/>
        </p:nvSpPr>
        <p:spPr>
          <a:xfrm>
            <a:off x="1298448" y="4809744"/>
            <a:ext cx="4187952" cy="960120"/>
          </a:xfrm>
          <a:prstGeom prst="rect">
            <a:avLst/>
          </a:prstGeom>
          <a:noFill/>
          <a:ln/>
        </p:spPr>
        <p:txBody>
          <a:bodyPr wrap="square" lIns="0" tIns="0" rIns="0" bIns="0" rtlCol="0" anchor="t"/>
          <a:lstStyle/>
          <a:p>
            <a:pPr indent="0" marL="0">
              <a:buNone/>
            </a:pPr>
            <a:r>
              <a:rPr lang="en-US" sz="1800" b="1" dirty="0">
                <a:solidFill>
                  <a:schemeClr val="tx2"/>
                </a:solidFill>
              </a:rPr>
              <a:t>4. Diverifikasi admin</a:t>
            </a:r>
            <a:endParaRPr lang="en-US" sz="1800" dirty="0"/>
          </a:p>
          <a:p>
            <a:pPr indent="0" marL="0">
              <a:buNone/>
            </a:pPr>
            <a:r>
              <a:rPr lang="en-US" sz="1500" dirty="0">
                <a:solidFill>
                  <a:schemeClr val="tx1"/>
                </a:solidFill>
              </a:rPr>
              <a:t>Paket aktif, masa aktif disambung</a:t>
            </a:r>
            <a:endParaRPr lang="en-US" sz="1800" dirty="0"/>
          </a:p>
        </p:txBody>
      </p:sp>
      <p:sp>
        <p:nvSpPr>
          <p:cNvPr id="15" name="bingkai screenshot"/>
          <p:cNvSpPr/>
          <p:nvPr/>
        </p:nvSpPr>
        <p:spPr>
          <a:xfrm>
            <a:off x="5504688" y="1601490"/>
            <a:ext cx="6181344" cy="4066501"/>
          </a:xfrm>
          <a:prstGeom prst="roundRect">
            <a:avLst>
              <a:gd name="adj" fmla="val 2249"/>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6" name="screenshot Halaman langganan paket" descr="Halaman langganan paket">    </p:cNvPr>
          <p:cNvPicPr>
            <a:picLocks noChangeAspect="1"/>
          </p:cNvPicPr>
          <p:nvPr/>
        </p:nvPicPr>
        <p:blipFill>
          <a:blip r:embed="rId5"/>
          <a:stretch>
            <a:fillRect/>
          </a:stretch>
        </p:blipFill>
        <p:spPr>
          <a:xfrm>
            <a:off x="5577840" y="1674642"/>
            <a:ext cx="6035040" cy="3920197"/>
          </a:xfrm>
          <a:prstGeom prst="rect">
            <a:avLst/>
          </a:prstGeom>
        </p:spPr>
      </p:pic>
      <p:sp>
        <p:nvSpPr>
          <p:cNvPr id="17" name="keterangan screenshot"/>
          <p:cNvSpPr txBox="1"/>
          <p:nvPr/>
        </p:nvSpPr>
        <p:spPr>
          <a:xfrm>
            <a:off x="5577840" y="5722854"/>
            <a:ext cx="6035040"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Ajak klinik lain, dapatkan komisi</a:t>
            </a:r>
            <a:endParaRPr lang="en-US" sz="3600" dirty="0"/>
          </a:p>
        </p:txBody>
      </p:sp>
      <p:sp>
        <p:nvSpPr>
          <p:cNvPr id="3" name="referal 1 lingkaran"/>
          <p:cNvSpPr/>
          <p:nvPr/>
        </p:nvSpPr>
        <p:spPr>
          <a:xfrm>
            <a:off x="548640" y="1527048"/>
            <a:ext cx="566928" cy="566928"/>
          </a:xfrm>
          <a:prstGeom prst="ellipse">
            <a:avLst/>
          </a:prstGeom>
          <a:solidFill>
            <a:schemeClr val="accent1"/>
          </a:solidFill>
          <a:ln w="12700">
            <a:solidFill>
              <a:schemeClr val="accent1"/>
            </a:solidFill>
            <a:prstDash val="solid"/>
          </a:ln>
        </p:spPr>
      </p:sp>
      <p:pic>
        <p:nvPicPr>
          <p:cNvPr id="4" name="referal 1" descr="referal 1">    </p:cNvPr>
          <p:cNvPicPr>
            <a:picLocks noChangeAspect="1"/>
          </p:cNvPicPr>
          <p:nvPr/>
        </p:nvPicPr>
        <p:blipFill>
          <a:blip r:embed="rId1"/>
          <a:stretch>
            <a:fillRect/>
          </a:stretch>
        </p:blipFill>
        <p:spPr>
          <a:xfrm>
            <a:off x="696041" y="1674449"/>
            <a:ext cx="272125" cy="272125"/>
          </a:xfrm>
          <a:prstGeom prst="rect">
            <a:avLst/>
          </a:prstGeom>
        </p:spPr>
      </p:pic>
      <p:sp>
        <p:nvSpPr>
          <p:cNvPr id="5" name="referal 1 teks"/>
          <p:cNvSpPr txBox="1"/>
          <p:nvPr/>
        </p:nvSpPr>
        <p:spPr>
          <a:xfrm>
            <a:off x="1298448" y="15087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Kode referal unik</a:t>
            </a:r>
            <a:endParaRPr lang="en-US" sz="1800" dirty="0"/>
          </a:p>
          <a:p>
            <a:pPr indent="0" marL="0">
              <a:buNone/>
            </a:pPr>
            <a:r>
              <a:rPr lang="en-US" sz="1500" dirty="0">
                <a:solidFill>
                  <a:schemeClr val="tx1"/>
                </a:solidFill>
              </a:rPr>
              <a:t>Setiap klinik otomatis punya kode sendiri</a:t>
            </a:r>
            <a:endParaRPr lang="en-US" sz="1800" dirty="0"/>
          </a:p>
        </p:txBody>
      </p:sp>
      <p:sp>
        <p:nvSpPr>
          <p:cNvPr id="6" name="referal 2 lingkaran"/>
          <p:cNvSpPr/>
          <p:nvPr/>
        </p:nvSpPr>
        <p:spPr>
          <a:xfrm>
            <a:off x="548640" y="2898648"/>
            <a:ext cx="566928" cy="566928"/>
          </a:xfrm>
          <a:prstGeom prst="ellipse">
            <a:avLst/>
          </a:prstGeom>
          <a:solidFill>
            <a:schemeClr val="accent1"/>
          </a:solidFill>
          <a:ln w="12700">
            <a:solidFill>
              <a:schemeClr val="accent1"/>
            </a:solidFill>
            <a:prstDash val="solid"/>
          </a:ln>
        </p:spPr>
      </p:sp>
      <p:pic>
        <p:nvPicPr>
          <p:cNvPr id="7" name="referal 2" descr="referal 2">    </p:cNvPr>
          <p:cNvPicPr>
            <a:picLocks noChangeAspect="1"/>
          </p:cNvPicPr>
          <p:nvPr/>
        </p:nvPicPr>
        <p:blipFill>
          <a:blip r:embed="rId2"/>
          <a:stretch>
            <a:fillRect/>
          </a:stretch>
        </p:blipFill>
        <p:spPr>
          <a:xfrm>
            <a:off x="696041" y="3046049"/>
            <a:ext cx="272125" cy="272125"/>
          </a:xfrm>
          <a:prstGeom prst="rect">
            <a:avLst/>
          </a:prstGeom>
        </p:spPr>
      </p:pic>
      <p:sp>
        <p:nvSpPr>
          <p:cNvPr id="8" name="referal 2 teks"/>
          <p:cNvSpPr txBox="1"/>
          <p:nvPr/>
        </p:nvSpPr>
        <p:spPr>
          <a:xfrm>
            <a:off x="1298448" y="28803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Bagikan via WhatsApp</a:t>
            </a:r>
            <a:endParaRPr lang="en-US" sz="1800" dirty="0"/>
          </a:p>
          <a:p>
            <a:pPr indent="0" marL="0">
              <a:buNone/>
            </a:pPr>
            <a:r>
              <a:rPr lang="en-US" sz="1500" dirty="0">
                <a:solidFill>
                  <a:schemeClr val="tx1"/>
                </a:solidFill>
              </a:rPr>
              <a:t>Kode otomatis terisi saat klinik lain mendaftar</a:t>
            </a:r>
            <a:endParaRPr lang="en-US" sz="1800" dirty="0"/>
          </a:p>
        </p:txBody>
      </p:sp>
      <p:sp>
        <p:nvSpPr>
          <p:cNvPr id="9" name="referal 3 lingkaran"/>
          <p:cNvSpPr/>
          <p:nvPr/>
        </p:nvSpPr>
        <p:spPr>
          <a:xfrm>
            <a:off x="548640" y="4270248"/>
            <a:ext cx="566928" cy="566928"/>
          </a:xfrm>
          <a:prstGeom prst="ellipse">
            <a:avLst/>
          </a:prstGeom>
          <a:solidFill>
            <a:schemeClr val="accent1"/>
          </a:solidFill>
          <a:ln w="12700">
            <a:solidFill>
              <a:schemeClr val="accent1"/>
            </a:solidFill>
            <a:prstDash val="solid"/>
          </a:ln>
        </p:spPr>
      </p:sp>
      <p:pic>
        <p:nvPicPr>
          <p:cNvPr id="10" name="referal 3" descr="referal 3">    </p:cNvPr>
          <p:cNvPicPr>
            <a:picLocks noChangeAspect="1"/>
          </p:cNvPicPr>
          <p:nvPr/>
        </p:nvPicPr>
        <p:blipFill>
          <a:blip r:embed="rId3"/>
          <a:stretch>
            <a:fillRect/>
          </a:stretch>
        </p:blipFill>
        <p:spPr>
          <a:xfrm>
            <a:off x="696041" y="4417649"/>
            <a:ext cx="272125" cy="272125"/>
          </a:xfrm>
          <a:prstGeom prst="rect">
            <a:avLst/>
          </a:prstGeom>
        </p:spPr>
      </p:pic>
      <p:sp>
        <p:nvSpPr>
          <p:cNvPr id="11" name="referal 3 teks"/>
          <p:cNvSpPr txBox="1"/>
          <p:nvPr/>
        </p:nvSpPr>
        <p:spPr>
          <a:xfrm>
            <a:off x="1298448" y="4251960"/>
            <a:ext cx="3913632" cy="960120"/>
          </a:xfrm>
          <a:prstGeom prst="rect">
            <a:avLst/>
          </a:prstGeom>
          <a:noFill/>
          <a:ln/>
        </p:spPr>
        <p:txBody>
          <a:bodyPr wrap="square" lIns="0" tIns="0" rIns="0" bIns="0" rtlCol="0" anchor="t"/>
          <a:lstStyle/>
          <a:p>
            <a:pPr indent="0" marL="0">
              <a:buNone/>
            </a:pPr>
            <a:r>
              <a:rPr lang="en-US" sz="1800" b="1" dirty="0">
                <a:solidFill>
                  <a:schemeClr val="tx2"/>
                </a:solidFill>
              </a:rPr>
              <a:t>Komisi saat berlangganan</a:t>
            </a:r>
            <a:endParaRPr lang="en-US" sz="1800" dirty="0"/>
          </a:p>
          <a:p>
            <a:pPr indent="0" marL="0">
              <a:buNone/>
            </a:pPr>
            <a:r>
              <a:rPr lang="en-US" sz="1500" dirty="0">
                <a:solidFill>
                  <a:schemeClr val="tx1"/>
                </a:solidFill>
              </a:rPr>
              <a:t>Bukan saat mendaftar atau masa uji coba</a:t>
            </a:r>
            <a:endParaRPr lang="en-US" sz="1800" dirty="0"/>
          </a:p>
        </p:txBody>
      </p:sp>
      <p:sp>
        <p:nvSpPr>
          <p:cNvPr id="12" name="bingkai screenshot"/>
          <p:cNvSpPr/>
          <p:nvPr/>
        </p:nvSpPr>
        <p:spPr>
          <a:xfrm>
            <a:off x="5230368" y="1674173"/>
            <a:ext cx="6455664" cy="3921135"/>
          </a:xfrm>
          <a:prstGeom prst="roundRect">
            <a:avLst>
              <a:gd name="adj" fmla="val 2332"/>
            </a:avLst>
          </a:prstGeom>
          <a:solidFill>
            <a:srgbClr val="FFFFFF"/>
          </a:solidFill>
          <a:ln w="12700">
            <a:solidFill>
              <a:srgbClr val="D5E4E5"/>
            </a:solidFill>
            <a:prstDash val="solid"/>
          </a:ln>
          <a:effectLst>
            <a:outerShdw sx="100000" sy="100000" kx="0" ky="0" algn="bl" rotWithShape="0" blurRad="101600" dist="25400" dir="5400000">
              <a:srgbClr val="0B3C49">
                <a:alpha val="18000"/>
              </a:srgbClr>
            </a:outerShdw>
          </a:effectLst>
        </p:spPr>
      </p:sp>
      <p:pic>
        <p:nvPicPr>
          <p:cNvPr id="13" name="screenshot Halaman referal klinik" descr="Halaman referal klinik">    </p:cNvPr>
          <p:cNvPicPr>
            <a:picLocks noChangeAspect="1"/>
          </p:cNvPicPr>
          <p:nvPr/>
        </p:nvPicPr>
        <p:blipFill>
          <a:blip r:embed="rId4"/>
          <a:stretch>
            <a:fillRect/>
          </a:stretch>
        </p:blipFill>
        <p:spPr>
          <a:xfrm>
            <a:off x="5303520" y="1747325"/>
            <a:ext cx="6309360" cy="3774831"/>
          </a:xfrm>
          <a:prstGeom prst="rect">
            <a:avLst/>
          </a:prstGeom>
        </p:spPr>
      </p:pic>
      <p:sp>
        <p:nvSpPr>
          <p:cNvPr id="14" name="keterangan screenshot"/>
          <p:cNvSpPr txBox="1"/>
          <p:nvPr/>
        </p:nvSpPr>
        <p:spPr>
          <a:xfrm>
            <a:off x="5303520" y="5650171"/>
            <a:ext cx="6309360" cy="228600"/>
          </a:xfrm>
          <a:prstGeom prst="rect">
            <a:avLst/>
          </a:prstGeom>
          <a:noFill/>
          <a:ln/>
        </p:spPr>
        <p:txBody>
          <a:bodyPr wrap="square" lIns="0" tIns="0" rIns="0" bIns="0" rtlCol="0" anchor="ctr"/>
          <a:lstStyle/>
          <a:p>
            <a:pPr algn="r" indent="0" marL="0">
              <a:buNone/>
            </a:pPr>
            <a:r>
              <a:rPr lang="en-US" sz="1100" i="1" dirty="0">
                <a:solidFill>
                  <a:srgbClr val="6B7F83"/>
                </a:solidFill>
              </a:rPr>
              <a:t>Tampilan aplikasi (data contoh)</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Mulai dalam 4 langkah</a:t>
            </a:r>
            <a:endParaRPr lang="en-US" sz="3600" dirty="0"/>
          </a:p>
        </p:txBody>
      </p:sp>
      <p:sp>
        <p:nvSpPr>
          <p:cNvPr id="3" name="kartu mulai 1"/>
          <p:cNvSpPr/>
          <p:nvPr/>
        </p:nvSpPr>
        <p:spPr>
          <a:xfrm>
            <a:off x="548640" y="1463040"/>
            <a:ext cx="2606040" cy="2697480"/>
          </a:xfrm>
          <a:prstGeom prst="roundRect">
            <a:avLst>
              <a:gd name="adj" fmla="val 5263"/>
            </a:avLst>
          </a:prstGeom>
          <a:solidFill>
            <a:schemeClr val="bg2"/>
          </a:solidFill>
          <a:ln w="12700">
            <a:solidFill>
              <a:schemeClr val="bg2"/>
            </a:solidFill>
            <a:prstDash val="solid"/>
          </a:ln>
        </p:spPr>
      </p:sp>
      <p:sp>
        <p:nvSpPr>
          <p:cNvPr id="4" name="ikon mulai 1 lingkaran"/>
          <p:cNvSpPr/>
          <p:nvPr/>
        </p:nvSpPr>
        <p:spPr>
          <a:xfrm>
            <a:off x="822960" y="1737360"/>
            <a:ext cx="777240" cy="777240"/>
          </a:xfrm>
          <a:prstGeom prst="ellipse">
            <a:avLst/>
          </a:prstGeom>
          <a:solidFill>
            <a:schemeClr val="accent1"/>
          </a:solidFill>
          <a:ln w="12700">
            <a:solidFill>
              <a:schemeClr val="accent1"/>
            </a:solidFill>
            <a:prstDash val="solid"/>
          </a:ln>
        </p:spPr>
      </p:sp>
      <p:pic>
        <p:nvPicPr>
          <p:cNvPr id="5" name="ikon mulai 1" descr="ikon mulai 1">    </p:cNvPr>
          <p:cNvPicPr>
            <a:picLocks noChangeAspect="1"/>
          </p:cNvPicPr>
          <p:nvPr/>
        </p:nvPicPr>
        <p:blipFill>
          <a:blip r:embed="rId1"/>
          <a:stretch>
            <a:fillRect/>
          </a:stretch>
        </p:blipFill>
        <p:spPr>
          <a:xfrm>
            <a:off x="1025042" y="1939442"/>
            <a:ext cx="373075" cy="373075"/>
          </a:xfrm>
          <a:prstGeom prst="rect">
            <a:avLst/>
          </a:prstGeom>
        </p:spPr>
      </p:pic>
      <p:sp>
        <p:nvSpPr>
          <p:cNvPr id="6" name="nomor mulai 1"/>
          <p:cNvSpPr txBox="1"/>
          <p:nvPr/>
        </p:nvSpPr>
        <p:spPr>
          <a:xfrm>
            <a:off x="2331720" y="1691640"/>
            <a:ext cx="548640" cy="548640"/>
          </a:xfrm>
          <a:prstGeom prst="rect">
            <a:avLst/>
          </a:prstGeom>
          <a:noFill/>
          <a:ln/>
        </p:spPr>
        <p:txBody>
          <a:bodyPr wrap="square" lIns="0" tIns="0" rIns="0" bIns="0" rtlCol="0" anchor="ctr"/>
          <a:lstStyle/>
          <a:p>
            <a:pPr algn="r" indent="0" marL="0">
              <a:buNone/>
            </a:pPr>
            <a:r>
              <a:rPr lang="en-US" sz="3200" b="1" dirty="0">
                <a:solidFill>
                  <a:schemeClr val="accent2"/>
                </a:solidFill>
              </a:rPr>
              <a:t>1</a:t>
            </a:r>
            <a:endParaRPr lang="en-US" sz="3200" dirty="0"/>
          </a:p>
        </p:txBody>
      </p:sp>
      <p:sp>
        <p:nvSpPr>
          <p:cNvPr id="7" name="teks mulai 1"/>
          <p:cNvSpPr txBox="1"/>
          <p:nvPr/>
        </p:nvSpPr>
        <p:spPr>
          <a:xfrm>
            <a:off x="822960" y="2743200"/>
            <a:ext cx="2103120" cy="1325880"/>
          </a:xfrm>
          <a:prstGeom prst="rect">
            <a:avLst/>
          </a:prstGeom>
          <a:noFill/>
          <a:ln/>
        </p:spPr>
        <p:txBody>
          <a:bodyPr wrap="square" lIns="0" tIns="0" rIns="0" bIns="0" rtlCol="0" anchor="t"/>
          <a:lstStyle/>
          <a:p>
            <a:pPr indent="0" marL="0">
              <a:buNone/>
            </a:pPr>
            <a:r>
              <a:rPr lang="en-US" sz="1900" b="1" dirty="0">
                <a:solidFill>
                  <a:schemeClr val="tx2"/>
                </a:solidFill>
              </a:rPr>
              <a:t>Daftar online</a:t>
            </a:r>
            <a:endParaRPr lang="en-US" sz="1900" dirty="0"/>
          </a:p>
          <a:p>
            <a:pPr indent="0" marL="0">
              <a:buNone/>
            </a:pPr>
            <a:r>
              <a:rPr lang="en-US" sz="1500" dirty="0">
                <a:solidFill>
                  <a:schemeClr val="tx1"/>
                </a:solidFill>
              </a:rPr>
              <a:t>Isi form pendaftaran klinik, uji coba gratis langsung aktif</a:t>
            </a:r>
            <a:endParaRPr lang="en-US" sz="1900" dirty="0"/>
          </a:p>
        </p:txBody>
      </p:sp>
      <p:sp>
        <p:nvSpPr>
          <p:cNvPr id="8" name="kartu mulai 2"/>
          <p:cNvSpPr/>
          <p:nvPr/>
        </p:nvSpPr>
        <p:spPr>
          <a:xfrm>
            <a:off x="3337560" y="1463040"/>
            <a:ext cx="2606040" cy="2697480"/>
          </a:xfrm>
          <a:prstGeom prst="roundRect">
            <a:avLst>
              <a:gd name="adj" fmla="val 5263"/>
            </a:avLst>
          </a:prstGeom>
          <a:solidFill>
            <a:schemeClr val="bg2"/>
          </a:solidFill>
          <a:ln w="12700">
            <a:solidFill>
              <a:schemeClr val="bg2"/>
            </a:solidFill>
            <a:prstDash val="solid"/>
          </a:ln>
        </p:spPr>
      </p:sp>
      <p:sp>
        <p:nvSpPr>
          <p:cNvPr id="9" name="ikon mulai 2 lingkaran"/>
          <p:cNvSpPr/>
          <p:nvPr/>
        </p:nvSpPr>
        <p:spPr>
          <a:xfrm>
            <a:off x="3611880" y="1737360"/>
            <a:ext cx="777240" cy="777240"/>
          </a:xfrm>
          <a:prstGeom prst="ellipse">
            <a:avLst/>
          </a:prstGeom>
          <a:solidFill>
            <a:schemeClr val="accent1"/>
          </a:solidFill>
          <a:ln w="12700">
            <a:solidFill>
              <a:schemeClr val="accent1"/>
            </a:solidFill>
            <a:prstDash val="solid"/>
          </a:ln>
        </p:spPr>
      </p:sp>
      <p:pic>
        <p:nvPicPr>
          <p:cNvPr id="10" name="ikon mulai 2" descr="ikon mulai 2">    </p:cNvPr>
          <p:cNvPicPr>
            <a:picLocks noChangeAspect="1"/>
          </p:cNvPicPr>
          <p:nvPr/>
        </p:nvPicPr>
        <p:blipFill>
          <a:blip r:embed="rId2"/>
          <a:stretch>
            <a:fillRect/>
          </a:stretch>
        </p:blipFill>
        <p:spPr>
          <a:xfrm>
            <a:off x="3813962" y="1939442"/>
            <a:ext cx="373075" cy="373075"/>
          </a:xfrm>
          <a:prstGeom prst="rect">
            <a:avLst/>
          </a:prstGeom>
        </p:spPr>
      </p:pic>
      <p:sp>
        <p:nvSpPr>
          <p:cNvPr id="11" name="nomor mulai 2"/>
          <p:cNvSpPr txBox="1"/>
          <p:nvPr/>
        </p:nvSpPr>
        <p:spPr>
          <a:xfrm>
            <a:off x="5120640" y="1691640"/>
            <a:ext cx="548640" cy="548640"/>
          </a:xfrm>
          <a:prstGeom prst="rect">
            <a:avLst/>
          </a:prstGeom>
          <a:noFill/>
          <a:ln/>
        </p:spPr>
        <p:txBody>
          <a:bodyPr wrap="square" lIns="0" tIns="0" rIns="0" bIns="0" rtlCol="0" anchor="ctr"/>
          <a:lstStyle/>
          <a:p>
            <a:pPr algn="r" indent="0" marL="0">
              <a:buNone/>
            </a:pPr>
            <a:r>
              <a:rPr lang="en-US" sz="3200" b="1" dirty="0">
                <a:solidFill>
                  <a:schemeClr val="accent2"/>
                </a:solidFill>
              </a:rPr>
              <a:t>2</a:t>
            </a:r>
            <a:endParaRPr lang="en-US" sz="3200" dirty="0"/>
          </a:p>
        </p:txBody>
      </p:sp>
      <p:sp>
        <p:nvSpPr>
          <p:cNvPr id="12" name="teks mulai 2"/>
          <p:cNvSpPr txBox="1"/>
          <p:nvPr/>
        </p:nvSpPr>
        <p:spPr>
          <a:xfrm>
            <a:off x="3611880" y="2743200"/>
            <a:ext cx="2103120" cy="1325880"/>
          </a:xfrm>
          <a:prstGeom prst="rect">
            <a:avLst/>
          </a:prstGeom>
          <a:noFill/>
          <a:ln/>
        </p:spPr>
        <p:txBody>
          <a:bodyPr wrap="square" lIns="0" tIns="0" rIns="0" bIns="0" rtlCol="0" anchor="t"/>
          <a:lstStyle/>
          <a:p>
            <a:pPr indent="0" marL="0">
              <a:buNone/>
            </a:pPr>
            <a:r>
              <a:rPr lang="en-US" sz="1900" b="1" dirty="0">
                <a:solidFill>
                  <a:schemeClr val="tx2"/>
                </a:solidFill>
              </a:rPr>
              <a:t>Atur profil klinik</a:t>
            </a:r>
            <a:endParaRPr lang="en-US" sz="1900" dirty="0"/>
          </a:p>
          <a:p>
            <a:pPr indent="0" marL="0">
              <a:buNone/>
            </a:pPr>
            <a:r>
              <a:rPr lang="en-US" sz="1500" dirty="0">
                <a:solidFill>
                  <a:schemeClr val="tx1"/>
                </a:solidFill>
              </a:rPr>
              <a:t>Logo, cap, tanda tangan untuk kwitansi &amp; surat</a:t>
            </a:r>
            <a:endParaRPr lang="en-US" sz="1900" dirty="0"/>
          </a:p>
        </p:txBody>
      </p:sp>
      <p:sp>
        <p:nvSpPr>
          <p:cNvPr id="13" name="kartu mulai 3"/>
          <p:cNvSpPr/>
          <p:nvPr/>
        </p:nvSpPr>
        <p:spPr>
          <a:xfrm>
            <a:off x="6126480" y="1463040"/>
            <a:ext cx="2606040" cy="2697480"/>
          </a:xfrm>
          <a:prstGeom prst="roundRect">
            <a:avLst>
              <a:gd name="adj" fmla="val 5263"/>
            </a:avLst>
          </a:prstGeom>
          <a:solidFill>
            <a:schemeClr val="bg2"/>
          </a:solidFill>
          <a:ln w="12700">
            <a:solidFill>
              <a:schemeClr val="bg2"/>
            </a:solidFill>
            <a:prstDash val="solid"/>
          </a:ln>
        </p:spPr>
      </p:sp>
      <p:sp>
        <p:nvSpPr>
          <p:cNvPr id="14" name="ikon mulai 3 lingkaran"/>
          <p:cNvSpPr/>
          <p:nvPr/>
        </p:nvSpPr>
        <p:spPr>
          <a:xfrm>
            <a:off x="6400800" y="1737360"/>
            <a:ext cx="777240" cy="777240"/>
          </a:xfrm>
          <a:prstGeom prst="ellipse">
            <a:avLst/>
          </a:prstGeom>
          <a:solidFill>
            <a:schemeClr val="accent1"/>
          </a:solidFill>
          <a:ln w="12700">
            <a:solidFill>
              <a:schemeClr val="accent1"/>
            </a:solidFill>
            <a:prstDash val="solid"/>
          </a:ln>
        </p:spPr>
      </p:sp>
      <p:pic>
        <p:nvPicPr>
          <p:cNvPr id="15" name="ikon mulai 3" descr="ikon mulai 3">    </p:cNvPr>
          <p:cNvPicPr>
            <a:picLocks noChangeAspect="1"/>
          </p:cNvPicPr>
          <p:nvPr/>
        </p:nvPicPr>
        <p:blipFill>
          <a:blip r:embed="rId3"/>
          <a:stretch>
            <a:fillRect/>
          </a:stretch>
        </p:blipFill>
        <p:spPr>
          <a:xfrm>
            <a:off x="6602882" y="1939442"/>
            <a:ext cx="373075" cy="373075"/>
          </a:xfrm>
          <a:prstGeom prst="rect">
            <a:avLst/>
          </a:prstGeom>
        </p:spPr>
      </p:pic>
      <p:sp>
        <p:nvSpPr>
          <p:cNvPr id="16" name="nomor mulai 3"/>
          <p:cNvSpPr txBox="1"/>
          <p:nvPr/>
        </p:nvSpPr>
        <p:spPr>
          <a:xfrm>
            <a:off x="7909560" y="1691640"/>
            <a:ext cx="548640" cy="548640"/>
          </a:xfrm>
          <a:prstGeom prst="rect">
            <a:avLst/>
          </a:prstGeom>
          <a:noFill/>
          <a:ln/>
        </p:spPr>
        <p:txBody>
          <a:bodyPr wrap="square" lIns="0" tIns="0" rIns="0" bIns="0" rtlCol="0" anchor="ctr"/>
          <a:lstStyle/>
          <a:p>
            <a:pPr algn="r" indent="0" marL="0">
              <a:buNone/>
            </a:pPr>
            <a:r>
              <a:rPr lang="en-US" sz="3200" b="1" dirty="0">
                <a:solidFill>
                  <a:schemeClr val="accent2"/>
                </a:solidFill>
              </a:rPr>
              <a:t>3</a:t>
            </a:r>
            <a:endParaRPr lang="en-US" sz="3200" dirty="0"/>
          </a:p>
        </p:txBody>
      </p:sp>
      <p:sp>
        <p:nvSpPr>
          <p:cNvPr id="17" name="teks mulai 3"/>
          <p:cNvSpPr txBox="1"/>
          <p:nvPr/>
        </p:nvSpPr>
        <p:spPr>
          <a:xfrm>
            <a:off x="6400800" y="2743200"/>
            <a:ext cx="2103120" cy="1325880"/>
          </a:xfrm>
          <a:prstGeom prst="rect">
            <a:avLst/>
          </a:prstGeom>
          <a:noFill/>
          <a:ln/>
        </p:spPr>
        <p:txBody>
          <a:bodyPr wrap="square" lIns="0" tIns="0" rIns="0" bIns="0" rtlCol="0" anchor="t"/>
          <a:lstStyle/>
          <a:p>
            <a:pPr indent="0" marL="0">
              <a:buNone/>
            </a:pPr>
            <a:r>
              <a:rPr lang="en-US" sz="1900" b="1" dirty="0">
                <a:solidFill>
                  <a:schemeClr val="tx2"/>
                </a:solidFill>
              </a:rPr>
              <a:t>Tindakan &amp; terapis</a:t>
            </a:r>
            <a:endParaRPr lang="en-US" sz="1900" dirty="0"/>
          </a:p>
          <a:p>
            <a:pPr indent="0" marL="0">
              <a:buNone/>
            </a:pPr>
            <a:r>
              <a:rPr lang="en-US" sz="1500" dirty="0">
                <a:solidFill>
                  <a:schemeClr val="tx1"/>
                </a:solidFill>
              </a:rPr>
              <a:t>Katalog tahap terapi, tarif, dan data terapis</a:t>
            </a:r>
            <a:endParaRPr lang="en-US" sz="1900" dirty="0"/>
          </a:p>
        </p:txBody>
      </p:sp>
      <p:sp>
        <p:nvSpPr>
          <p:cNvPr id="18" name="kartu mulai 4"/>
          <p:cNvSpPr/>
          <p:nvPr/>
        </p:nvSpPr>
        <p:spPr>
          <a:xfrm>
            <a:off x="8915400" y="1463040"/>
            <a:ext cx="2606040" cy="2697480"/>
          </a:xfrm>
          <a:prstGeom prst="roundRect">
            <a:avLst>
              <a:gd name="adj" fmla="val 5263"/>
            </a:avLst>
          </a:prstGeom>
          <a:solidFill>
            <a:schemeClr val="bg2"/>
          </a:solidFill>
          <a:ln w="12700">
            <a:solidFill>
              <a:schemeClr val="bg2"/>
            </a:solidFill>
            <a:prstDash val="solid"/>
          </a:ln>
        </p:spPr>
      </p:sp>
      <p:sp>
        <p:nvSpPr>
          <p:cNvPr id="19" name="ikon mulai 4 lingkaran"/>
          <p:cNvSpPr/>
          <p:nvPr/>
        </p:nvSpPr>
        <p:spPr>
          <a:xfrm>
            <a:off x="9189720" y="1737360"/>
            <a:ext cx="777240" cy="777240"/>
          </a:xfrm>
          <a:prstGeom prst="ellipse">
            <a:avLst/>
          </a:prstGeom>
          <a:solidFill>
            <a:schemeClr val="accent1"/>
          </a:solidFill>
          <a:ln w="12700">
            <a:solidFill>
              <a:schemeClr val="accent1"/>
            </a:solidFill>
            <a:prstDash val="solid"/>
          </a:ln>
        </p:spPr>
      </p:sp>
      <p:pic>
        <p:nvPicPr>
          <p:cNvPr id="20" name="ikon mulai 4" descr="ikon mulai 4">    </p:cNvPr>
          <p:cNvPicPr>
            <a:picLocks noChangeAspect="1"/>
          </p:cNvPicPr>
          <p:nvPr/>
        </p:nvPicPr>
        <p:blipFill>
          <a:blip r:embed="rId4"/>
          <a:stretch>
            <a:fillRect/>
          </a:stretch>
        </p:blipFill>
        <p:spPr>
          <a:xfrm>
            <a:off x="9391802" y="1939442"/>
            <a:ext cx="373075" cy="373075"/>
          </a:xfrm>
          <a:prstGeom prst="rect">
            <a:avLst/>
          </a:prstGeom>
        </p:spPr>
      </p:pic>
      <p:sp>
        <p:nvSpPr>
          <p:cNvPr id="21" name="nomor mulai 4"/>
          <p:cNvSpPr txBox="1"/>
          <p:nvPr/>
        </p:nvSpPr>
        <p:spPr>
          <a:xfrm>
            <a:off x="10698480" y="1691640"/>
            <a:ext cx="548640" cy="548640"/>
          </a:xfrm>
          <a:prstGeom prst="rect">
            <a:avLst/>
          </a:prstGeom>
          <a:noFill/>
          <a:ln/>
        </p:spPr>
        <p:txBody>
          <a:bodyPr wrap="square" lIns="0" tIns="0" rIns="0" bIns="0" rtlCol="0" anchor="ctr"/>
          <a:lstStyle/>
          <a:p>
            <a:pPr algn="r" indent="0" marL="0">
              <a:buNone/>
            </a:pPr>
            <a:r>
              <a:rPr lang="en-US" sz="3200" b="1" dirty="0">
                <a:solidFill>
                  <a:schemeClr val="accent2"/>
                </a:solidFill>
              </a:rPr>
              <a:t>4</a:t>
            </a:r>
            <a:endParaRPr lang="en-US" sz="3200" dirty="0"/>
          </a:p>
        </p:txBody>
      </p:sp>
      <p:sp>
        <p:nvSpPr>
          <p:cNvPr id="22" name="teks mulai 4"/>
          <p:cNvSpPr txBox="1"/>
          <p:nvPr/>
        </p:nvSpPr>
        <p:spPr>
          <a:xfrm>
            <a:off x="9189720" y="2743200"/>
            <a:ext cx="2103120" cy="1325880"/>
          </a:xfrm>
          <a:prstGeom prst="rect">
            <a:avLst/>
          </a:prstGeom>
          <a:noFill/>
          <a:ln/>
        </p:spPr>
        <p:txBody>
          <a:bodyPr wrap="square" lIns="0" tIns="0" rIns="0" bIns="0" rtlCol="0" anchor="t"/>
          <a:lstStyle/>
          <a:p>
            <a:pPr indent="0" marL="0">
              <a:buNone/>
            </a:pPr>
            <a:r>
              <a:rPr lang="en-US" sz="1900" b="1" dirty="0">
                <a:solidFill>
                  <a:schemeClr val="tx2"/>
                </a:solidFill>
              </a:rPr>
              <a:t>Layani pasien</a:t>
            </a:r>
            <a:endParaRPr lang="en-US" sz="1900" dirty="0"/>
          </a:p>
          <a:p>
            <a:pPr indent="0" marL="0">
              <a:buNone/>
            </a:pPr>
            <a:r>
              <a:rPr lang="en-US" sz="1500" dirty="0">
                <a:solidFill>
                  <a:schemeClr val="tx1"/>
                </a:solidFill>
              </a:rPr>
              <a:t>Daftarkan pasien dan buat reservasi pertama</a:t>
            </a:r>
            <a:endParaRPr lang="en-US" sz="1900" dirty="0"/>
          </a:p>
        </p:txBody>
      </p:sp>
      <p:sp>
        <p:nvSpPr>
          <p:cNvPr id="23" name="kartu panduan"/>
          <p:cNvSpPr/>
          <p:nvPr/>
        </p:nvSpPr>
        <p:spPr>
          <a:xfrm>
            <a:off x="548640" y="4434840"/>
            <a:ext cx="11064240" cy="1097280"/>
          </a:xfrm>
          <a:prstGeom prst="roundRect">
            <a:avLst>
              <a:gd name="adj" fmla="val 12500"/>
            </a:avLst>
          </a:prstGeom>
          <a:solidFill>
            <a:schemeClr val="bg2"/>
          </a:solidFill>
          <a:ln w="12700">
            <a:solidFill>
              <a:schemeClr val="bg2"/>
            </a:solidFill>
            <a:prstDash val="solid"/>
          </a:ln>
        </p:spPr>
      </p:sp>
      <p:sp>
        <p:nvSpPr>
          <p:cNvPr id="24" name="ikon panduan lingkaran"/>
          <p:cNvSpPr/>
          <p:nvPr/>
        </p:nvSpPr>
        <p:spPr>
          <a:xfrm>
            <a:off x="822960" y="4617720"/>
            <a:ext cx="731520" cy="731520"/>
          </a:xfrm>
          <a:prstGeom prst="ellipse">
            <a:avLst/>
          </a:prstGeom>
          <a:solidFill>
            <a:schemeClr val="accent2"/>
          </a:solidFill>
          <a:ln w="12700">
            <a:solidFill>
              <a:schemeClr val="accent2"/>
            </a:solidFill>
            <a:prstDash val="solid"/>
          </a:ln>
        </p:spPr>
      </p:sp>
      <p:pic>
        <p:nvPicPr>
          <p:cNvPr id="25" name="ikon panduan" descr="ikon panduan">    </p:cNvPr>
          <p:cNvPicPr>
            <a:picLocks noChangeAspect="1"/>
          </p:cNvPicPr>
          <p:nvPr/>
        </p:nvPicPr>
        <p:blipFill>
          <a:blip r:embed="rId5"/>
          <a:stretch>
            <a:fillRect/>
          </a:stretch>
        </p:blipFill>
        <p:spPr>
          <a:xfrm>
            <a:off x="1013155" y="4807915"/>
            <a:ext cx="351130" cy="351130"/>
          </a:xfrm>
          <a:prstGeom prst="rect">
            <a:avLst/>
          </a:prstGeom>
        </p:spPr>
      </p:pic>
      <p:sp>
        <p:nvSpPr>
          <p:cNvPr id="26" name="teks panduan"/>
          <p:cNvSpPr txBox="1"/>
          <p:nvPr/>
        </p:nvSpPr>
        <p:spPr>
          <a:xfrm>
            <a:off x="1828800" y="4480560"/>
            <a:ext cx="9601200" cy="1005840"/>
          </a:xfrm>
          <a:prstGeom prst="rect">
            <a:avLst/>
          </a:prstGeom>
          <a:noFill/>
          <a:ln/>
        </p:spPr>
        <p:txBody>
          <a:bodyPr wrap="square" lIns="0" tIns="0" rIns="0" bIns="0" rtlCol="0" anchor="ctr"/>
          <a:lstStyle/>
          <a:p>
            <a:pPr indent="0" marL="0">
              <a:buNone/>
            </a:pPr>
            <a:r>
              <a:rPr lang="en-US" sz="1900" b="1" dirty="0">
                <a:solidFill>
                  <a:schemeClr val="tx1"/>
                </a:solidFill>
              </a:rPr>
              <a:t>Panduan lengkap bergambar </a:t>
            </a:r>
            <a:pPr indent="0" marL="0">
              <a:buNone/>
            </a:pPr>
            <a:r>
              <a:rPr lang="en-US" sz="1900" dirty="0">
                <a:solidFill>
                  <a:schemeClr val="tx1"/>
                </a:solidFill>
              </a:rPr>
              <a:t>tersedia di aplikasi: menu Bantuan → Panduan Penggunaan.</a:t>
            </a:r>
            <a:endParaRPr lang="en-US" sz="19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Data klinik Anda</a:t>
            </a:r>
            <a:endParaRPr lang="en-US" sz="3600" dirty="0"/>
          </a:p>
        </p:txBody>
      </p:sp>
      <p:sp>
        <p:nvSpPr>
          <p:cNvPr id="3" name="kartu data 1"/>
          <p:cNvSpPr/>
          <p:nvPr/>
        </p:nvSpPr>
        <p:spPr>
          <a:xfrm>
            <a:off x="548640" y="1600200"/>
            <a:ext cx="3566160" cy="4160520"/>
          </a:xfrm>
          <a:prstGeom prst="roundRect">
            <a:avLst>
              <a:gd name="adj" fmla="val 3846"/>
            </a:avLst>
          </a:prstGeom>
          <a:solidFill>
            <a:schemeClr val="bg2"/>
          </a:solidFill>
          <a:ln w="12700">
            <a:solidFill>
              <a:schemeClr val="bg2"/>
            </a:solidFill>
            <a:prstDash val="solid"/>
          </a:ln>
        </p:spPr>
      </p:sp>
      <p:sp>
        <p:nvSpPr>
          <p:cNvPr id="4" name="ikon data 1 lingkaran"/>
          <p:cNvSpPr/>
          <p:nvPr/>
        </p:nvSpPr>
        <p:spPr>
          <a:xfrm>
            <a:off x="914400" y="2011680"/>
            <a:ext cx="1051560" cy="1051560"/>
          </a:xfrm>
          <a:prstGeom prst="ellipse">
            <a:avLst/>
          </a:prstGeom>
          <a:solidFill>
            <a:schemeClr val="accent1"/>
          </a:solidFill>
          <a:ln w="12700">
            <a:solidFill>
              <a:schemeClr val="accent1"/>
            </a:solidFill>
            <a:prstDash val="solid"/>
          </a:ln>
        </p:spPr>
      </p:sp>
      <p:pic>
        <p:nvPicPr>
          <p:cNvPr id="5" name="ikon data 1" descr="ikon data 1">    </p:cNvPr>
          <p:cNvPicPr>
            <a:picLocks noChangeAspect="1"/>
          </p:cNvPicPr>
          <p:nvPr/>
        </p:nvPicPr>
        <p:blipFill>
          <a:blip r:embed="rId1"/>
          <a:stretch>
            <a:fillRect/>
          </a:stretch>
        </p:blipFill>
        <p:spPr>
          <a:xfrm>
            <a:off x="1187806" y="2285086"/>
            <a:ext cx="504749" cy="504749"/>
          </a:xfrm>
          <a:prstGeom prst="rect">
            <a:avLst/>
          </a:prstGeom>
        </p:spPr>
      </p:pic>
      <p:sp>
        <p:nvSpPr>
          <p:cNvPr id="6" name="teks data 1"/>
          <p:cNvSpPr txBox="1"/>
          <p:nvPr/>
        </p:nvSpPr>
        <p:spPr>
          <a:xfrm>
            <a:off x="914400" y="3337560"/>
            <a:ext cx="2880360" cy="2194560"/>
          </a:xfrm>
          <a:prstGeom prst="rect">
            <a:avLst/>
          </a:prstGeom>
          <a:noFill/>
          <a:ln/>
        </p:spPr>
        <p:txBody>
          <a:bodyPr wrap="square" lIns="0" tIns="0" rIns="0" bIns="0" rtlCol="0" anchor="t"/>
          <a:lstStyle/>
          <a:p>
            <a:pPr indent="0" marL="0">
              <a:buNone/>
            </a:pPr>
            <a:r>
              <a:rPr lang="en-US" sz="2200" b="1" dirty="0">
                <a:solidFill>
                  <a:schemeClr val="tx2"/>
                </a:solidFill>
              </a:rPr>
              <a:t>Terpisah per klinik</a:t>
            </a:r>
            <a:endParaRPr lang="en-US" sz="2200" dirty="0"/>
          </a:p>
          <a:p>
            <a:pPr indent="0" marL="0">
              <a:buNone/>
            </a:pPr>
            <a:r>
              <a:rPr lang="en-US" sz="1800" dirty="0">
                <a:solidFill>
                  <a:schemeClr val="tx1"/>
                </a:solidFill>
              </a:rPr>
              <a:t>Setiap klinik hanya melihat data pasien, jadwal, dan transaksinya sendiri.</a:t>
            </a:r>
            <a:endParaRPr lang="en-US" sz="2200" dirty="0"/>
          </a:p>
        </p:txBody>
      </p:sp>
      <p:sp>
        <p:nvSpPr>
          <p:cNvPr id="7" name="kartu data 2"/>
          <p:cNvSpPr/>
          <p:nvPr/>
        </p:nvSpPr>
        <p:spPr>
          <a:xfrm>
            <a:off x="4297680" y="1600200"/>
            <a:ext cx="3566160" cy="4160520"/>
          </a:xfrm>
          <a:prstGeom prst="roundRect">
            <a:avLst>
              <a:gd name="adj" fmla="val 3846"/>
            </a:avLst>
          </a:prstGeom>
          <a:solidFill>
            <a:schemeClr val="bg2"/>
          </a:solidFill>
          <a:ln w="12700">
            <a:solidFill>
              <a:schemeClr val="bg2"/>
            </a:solidFill>
            <a:prstDash val="solid"/>
          </a:ln>
        </p:spPr>
      </p:sp>
      <p:sp>
        <p:nvSpPr>
          <p:cNvPr id="8" name="ikon data 2 lingkaran"/>
          <p:cNvSpPr/>
          <p:nvPr/>
        </p:nvSpPr>
        <p:spPr>
          <a:xfrm>
            <a:off x="4663440" y="2011680"/>
            <a:ext cx="1051560" cy="1051560"/>
          </a:xfrm>
          <a:prstGeom prst="ellipse">
            <a:avLst/>
          </a:prstGeom>
          <a:solidFill>
            <a:schemeClr val="accent1"/>
          </a:solidFill>
          <a:ln w="12700">
            <a:solidFill>
              <a:schemeClr val="accent1"/>
            </a:solidFill>
            <a:prstDash val="solid"/>
          </a:ln>
        </p:spPr>
      </p:sp>
      <p:pic>
        <p:nvPicPr>
          <p:cNvPr id="9" name="ikon data 2" descr="ikon data 2">    </p:cNvPr>
          <p:cNvPicPr>
            <a:picLocks noChangeAspect="1"/>
          </p:cNvPicPr>
          <p:nvPr/>
        </p:nvPicPr>
        <p:blipFill>
          <a:blip r:embed="rId2"/>
          <a:stretch>
            <a:fillRect/>
          </a:stretch>
        </p:blipFill>
        <p:spPr>
          <a:xfrm>
            <a:off x="4936846" y="2285086"/>
            <a:ext cx="504749" cy="504749"/>
          </a:xfrm>
          <a:prstGeom prst="rect">
            <a:avLst/>
          </a:prstGeom>
        </p:spPr>
      </p:pic>
      <p:sp>
        <p:nvSpPr>
          <p:cNvPr id="10" name="teks data 2"/>
          <p:cNvSpPr txBox="1"/>
          <p:nvPr/>
        </p:nvSpPr>
        <p:spPr>
          <a:xfrm>
            <a:off x="4663440" y="3337560"/>
            <a:ext cx="2880360" cy="2194560"/>
          </a:xfrm>
          <a:prstGeom prst="rect">
            <a:avLst/>
          </a:prstGeom>
          <a:noFill/>
          <a:ln/>
        </p:spPr>
        <p:txBody>
          <a:bodyPr wrap="square" lIns="0" tIns="0" rIns="0" bIns="0" rtlCol="0" anchor="t"/>
          <a:lstStyle/>
          <a:p>
            <a:pPr indent="0" marL="0">
              <a:buNone/>
            </a:pPr>
            <a:r>
              <a:rPr lang="en-US" sz="2200" b="1" dirty="0">
                <a:solidFill>
                  <a:schemeClr val="tx2"/>
                </a:solidFill>
              </a:rPr>
              <a:t>Akses sesuai peran</a:t>
            </a:r>
            <a:endParaRPr lang="en-US" sz="2200" dirty="0"/>
          </a:p>
          <a:p>
            <a:pPr indent="0" marL="0">
              <a:buNone/>
            </a:pPr>
            <a:r>
              <a:rPr lang="en-US" sz="1800" dirty="0">
                <a:solidFill>
                  <a:schemeClr val="tx1"/>
                </a:solidFill>
              </a:rPr>
              <a:t>Admin mengatur siapa yang bisa membuka menu pengaturan dan data sensitif.</a:t>
            </a:r>
            <a:endParaRPr lang="en-US" sz="2200" dirty="0"/>
          </a:p>
        </p:txBody>
      </p:sp>
      <p:sp>
        <p:nvSpPr>
          <p:cNvPr id="11" name="kartu data 3"/>
          <p:cNvSpPr/>
          <p:nvPr/>
        </p:nvSpPr>
        <p:spPr>
          <a:xfrm>
            <a:off x="8046720" y="1600200"/>
            <a:ext cx="3566160" cy="4160520"/>
          </a:xfrm>
          <a:prstGeom prst="roundRect">
            <a:avLst>
              <a:gd name="adj" fmla="val 3846"/>
            </a:avLst>
          </a:prstGeom>
          <a:solidFill>
            <a:schemeClr val="bg2"/>
          </a:solidFill>
          <a:ln w="12700">
            <a:solidFill>
              <a:schemeClr val="bg2"/>
            </a:solidFill>
            <a:prstDash val="solid"/>
          </a:ln>
        </p:spPr>
      </p:sp>
      <p:sp>
        <p:nvSpPr>
          <p:cNvPr id="12" name="ikon data 3 lingkaran"/>
          <p:cNvSpPr/>
          <p:nvPr/>
        </p:nvSpPr>
        <p:spPr>
          <a:xfrm>
            <a:off x="8412480" y="2011680"/>
            <a:ext cx="1051560" cy="1051560"/>
          </a:xfrm>
          <a:prstGeom prst="ellipse">
            <a:avLst/>
          </a:prstGeom>
          <a:solidFill>
            <a:schemeClr val="accent1"/>
          </a:solidFill>
          <a:ln w="12700">
            <a:solidFill>
              <a:schemeClr val="accent1"/>
            </a:solidFill>
            <a:prstDash val="solid"/>
          </a:ln>
        </p:spPr>
      </p:sp>
      <p:pic>
        <p:nvPicPr>
          <p:cNvPr id="13" name="ikon data 3" descr="ikon data 3">    </p:cNvPr>
          <p:cNvPicPr>
            <a:picLocks noChangeAspect="1"/>
          </p:cNvPicPr>
          <p:nvPr/>
        </p:nvPicPr>
        <p:blipFill>
          <a:blip r:embed="rId3"/>
          <a:stretch>
            <a:fillRect/>
          </a:stretch>
        </p:blipFill>
        <p:spPr>
          <a:xfrm>
            <a:off x="8685886" y="2285086"/>
            <a:ext cx="504749" cy="504749"/>
          </a:xfrm>
          <a:prstGeom prst="rect">
            <a:avLst/>
          </a:prstGeom>
        </p:spPr>
      </p:pic>
      <p:sp>
        <p:nvSpPr>
          <p:cNvPr id="14" name="teks data 3"/>
          <p:cNvSpPr txBox="1"/>
          <p:nvPr/>
        </p:nvSpPr>
        <p:spPr>
          <a:xfrm>
            <a:off x="8412480" y="3337560"/>
            <a:ext cx="2880360" cy="2194560"/>
          </a:xfrm>
          <a:prstGeom prst="rect">
            <a:avLst/>
          </a:prstGeom>
          <a:noFill/>
          <a:ln/>
        </p:spPr>
        <p:txBody>
          <a:bodyPr wrap="square" lIns="0" tIns="0" rIns="0" bIns="0" rtlCol="0" anchor="t"/>
          <a:lstStyle/>
          <a:p>
            <a:pPr indent="0" marL="0">
              <a:buNone/>
            </a:pPr>
            <a:r>
              <a:rPr lang="en-US" sz="2200" b="1" dirty="0">
                <a:solidFill>
                  <a:schemeClr val="tx2"/>
                </a:solidFill>
              </a:rPr>
              <a:t>Bukti bayar privat</a:t>
            </a:r>
            <a:endParaRPr lang="en-US" sz="2200" dirty="0"/>
          </a:p>
          <a:p>
            <a:pPr indent="0" marL="0">
              <a:buNone/>
            </a:pPr>
            <a:r>
              <a:rPr lang="en-US" sz="1800" dirty="0">
                <a:solidFill>
                  <a:schemeClr val="tx1"/>
                </a:solidFill>
              </a:rPr>
              <a:t>Bukti pembayaran paket hanya bisa dibuka klinik terkait dan admin platform.</a:t>
            </a:r>
            <a:endParaRPr lang="en-US" sz="2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9601200" cy="1371600"/>
          </a:xfrm>
          <a:prstGeom prst="rect">
            <a:avLst/>
          </a:prstGeom>
          <a:noFill/>
          <a:ln/>
        </p:spPr>
        <p:txBody>
          <a:bodyPr wrap="square" lIns="0" tIns="0" rIns="0" bIns="0" rtlCol="0" anchor="b"/>
          <a:lstStyle/>
          <a:p>
            <a:pPr algn="l" indent="0" marL="0">
              <a:buNone/>
            </a:pPr>
            <a:r>
              <a:rPr lang="en-US" sz="4800" b="1" dirty="0">
                <a:solidFill>
                  <a:schemeClr val="bg1"/>
                </a:solidFill>
              </a:rPr>
              <a:t>Terima kasih</a:t>
            </a:r>
            <a:endParaRPr lang="en-US" sz="4800" dirty="0"/>
          </a:p>
        </p:txBody>
      </p:sp>
      <p:sp>
        <p:nvSpPr>
          <p:cNvPr id="3" name="Text 0"/>
          <p:cNvSpPr/>
          <p:nvPr>
            <p:ph idx="102" type="body" hasCustomPrompt="1"/>
          </p:nvPr>
        </p:nvSpPr>
        <p:spPr>
          <a:xfrm>
            <a:off x="731520" y="3520440"/>
            <a:ext cx="9601200" cy="1005840"/>
          </a:xfrm>
          <a:prstGeom prst="rect">
            <a:avLst/>
          </a:prstGeom>
          <a:noFill/>
          <a:ln/>
        </p:spPr>
        <p:txBody>
          <a:bodyPr wrap="square" lIns="0" tIns="0" rIns="0" bIns="0" rtlCol="0" anchor="t"/>
          <a:lstStyle/>
          <a:p>
            <a:pPr algn="l" indent="0" marL="0">
              <a:buNone/>
            </a:pPr>
            <a:r>
              <a:rPr lang="en-US" sz="2400" dirty="0">
                <a:solidFill>
                  <a:schemeClr val="accent5"/>
                </a:solidFill>
              </a:rPr>
              <a:t>Silakan sampaikan pertanyaan Anda</a:t>
            </a:r>
            <a:endParaRPr lang="en-US" sz="2400" dirty="0"/>
          </a:p>
        </p:txBody>
      </p:sp>
      <p:sp>
        <p:nvSpPr>
          <p:cNvPr id="4" name="ikon kontak 1 lingkaran"/>
          <p:cNvSpPr/>
          <p:nvPr/>
        </p:nvSpPr>
        <p:spPr>
          <a:xfrm>
            <a:off x="731520" y="4572000"/>
            <a:ext cx="438912" cy="438912"/>
          </a:xfrm>
          <a:prstGeom prst="ellipse">
            <a:avLst/>
          </a:prstGeom>
          <a:solidFill>
            <a:schemeClr val="accent1"/>
          </a:solidFill>
          <a:ln w="12700">
            <a:solidFill>
              <a:schemeClr val="accent1"/>
            </a:solidFill>
            <a:prstDash val="solid"/>
          </a:ln>
        </p:spPr>
      </p:sp>
      <p:pic>
        <p:nvPicPr>
          <p:cNvPr id="5" name="ikon kontak 1" descr="ikon kontak 1">    </p:cNvPr>
          <p:cNvPicPr>
            <a:picLocks noChangeAspect="1"/>
          </p:cNvPicPr>
          <p:nvPr/>
        </p:nvPicPr>
        <p:blipFill>
          <a:blip r:embed="rId1"/>
          <a:stretch>
            <a:fillRect/>
          </a:stretch>
        </p:blipFill>
        <p:spPr>
          <a:xfrm>
            <a:off x="845637" y="4686117"/>
            <a:ext cx="210678" cy="210678"/>
          </a:xfrm>
          <a:prstGeom prst="rect">
            <a:avLst/>
          </a:prstGeom>
        </p:spPr>
      </p:pic>
      <p:sp>
        <p:nvSpPr>
          <p:cNvPr id="6" name="kontak 1"/>
          <p:cNvSpPr txBox="1"/>
          <p:nvPr/>
        </p:nvSpPr>
        <p:spPr>
          <a:xfrm>
            <a:off x="1325880" y="4572000"/>
            <a:ext cx="7315200" cy="438912"/>
          </a:xfrm>
          <a:prstGeom prst="rect">
            <a:avLst/>
          </a:prstGeom>
          <a:noFill/>
          <a:ln/>
        </p:spPr>
        <p:txBody>
          <a:bodyPr wrap="square" lIns="0" tIns="0" rIns="0" bIns="0" rtlCol="0" anchor="ctr"/>
          <a:lstStyle/>
          <a:p>
            <a:pPr indent="0" marL="0">
              <a:buNone/>
            </a:pPr>
            <a:r>
              <a:rPr lang="en-US" sz="1700" dirty="0">
                <a:solidFill>
                  <a:srgbClr val="FFFFFF"/>
                </a:solidFill>
              </a:rPr>
              <a:t>WhatsApp 0851-8303-6722</a:t>
            </a:r>
            <a:endParaRPr lang="en-US" sz="1700" dirty="0"/>
          </a:p>
        </p:txBody>
      </p:sp>
      <p:sp>
        <p:nvSpPr>
          <p:cNvPr id="7" name="ikon kontak 2 lingkaran"/>
          <p:cNvSpPr/>
          <p:nvPr/>
        </p:nvSpPr>
        <p:spPr>
          <a:xfrm>
            <a:off x="731520" y="5138928"/>
            <a:ext cx="438912" cy="438912"/>
          </a:xfrm>
          <a:prstGeom prst="ellipse">
            <a:avLst/>
          </a:prstGeom>
          <a:solidFill>
            <a:schemeClr val="accent1"/>
          </a:solidFill>
          <a:ln w="12700">
            <a:solidFill>
              <a:schemeClr val="accent1"/>
            </a:solidFill>
            <a:prstDash val="solid"/>
          </a:ln>
        </p:spPr>
      </p:sp>
      <p:pic>
        <p:nvPicPr>
          <p:cNvPr id="8" name="ikon kontak 2" descr="ikon kontak 2">    </p:cNvPr>
          <p:cNvPicPr>
            <a:picLocks noChangeAspect="1"/>
          </p:cNvPicPr>
          <p:nvPr/>
        </p:nvPicPr>
        <p:blipFill>
          <a:blip r:embed="rId2"/>
          <a:stretch>
            <a:fillRect/>
          </a:stretch>
        </p:blipFill>
        <p:spPr>
          <a:xfrm>
            <a:off x="845637" y="5253045"/>
            <a:ext cx="210678" cy="210678"/>
          </a:xfrm>
          <a:prstGeom prst="rect">
            <a:avLst/>
          </a:prstGeom>
        </p:spPr>
      </p:pic>
      <p:sp>
        <p:nvSpPr>
          <p:cNvPr id="9" name="kontak 2"/>
          <p:cNvSpPr txBox="1"/>
          <p:nvPr/>
        </p:nvSpPr>
        <p:spPr>
          <a:xfrm>
            <a:off x="1325880" y="5138928"/>
            <a:ext cx="7315200" cy="438912"/>
          </a:xfrm>
          <a:prstGeom prst="rect">
            <a:avLst/>
          </a:prstGeom>
          <a:noFill/>
          <a:ln/>
        </p:spPr>
        <p:txBody>
          <a:bodyPr wrap="square" lIns="0" tIns="0" rIns="0" bIns="0" rtlCol="0" anchor="ctr"/>
          <a:lstStyle/>
          <a:p>
            <a:pPr indent="0" marL="0">
              <a:buNone/>
            </a:pPr>
            <a:r>
              <a:rPr lang="en-US" sz="1700" dirty="0">
                <a:solidFill>
                  <a:srgbClr val="FFFFFF"/>
                </a:solidFill>
              </a:rPr>
              <a:t>dayutekno.com</a:t>
            </a:r>
            <a:endParaRPr lang="en-US" sz="1700" dirty="0"/>
          </a:p>
        </p:txBody>
      </p:sp>
      <p:sp>
        <p:nvSpPr>
          <p:cNvPr id="10" name="ikon kontak 3 lingkaran"/>
          <p:cNvSpPr/>
          <p:nvPr/>
        </p:nvSpPr>
        <p:spPr>
          <a:xfrm>
            <a:off x="731520" y="5705856"/>
            <a:ext cx="438912" cy="438912"/>
          </a:xfrm>
          <a:prstGeom prst="ellipse">
            <a:avLst/>
          </a:prstGeom>
          <a:solidFill>
            <a:schemeClr val="accent1"/>
          </a:solidFill>
          <a:ln w="12700">
            <a:solidFill>
              <a:schemeClr val="accent1"/>
            </a:solidFill>
            <a:prstDash val="solid"/>
          </a:ln>
        </p:spPr>
      </p:sp>
      <p:pic>
        <p:nvPicPr>
          <p:cNvPr id="11" name="ikon kontak 3" descr="ikon kontak 3">    </p:cNvPr>
          <p:cNvPicPr>
            <a:picLocks noChangeAspect="1"/>
          </p:cNvPicPr>
          <p:nvPr/>
        </p:nvPicPr>
        <p:blipFill>
          <a:blip r:embed="rId3"/>
          <a:stretch>
            <a:fillRect/>
          </a:stretch>
        </p:blipFill>
        <p:spPr>
          <a:xfrm>
            <a:off x="845637" y="5819973"/>
            <a:ext cx="210678" cy="210678"/>
          </a:xfrm>
          <a:prstGeom prst="rect">
            <a:avLst/>
          </a:prstGeom>
        </p:spPr>
      </p:pic>
      <p:sp>
        <p:nvSpPr>
          <p:cNvPr id="12" name="kontak 3"/>
          <p:cNvSpPr txBox="1"/>
          <p:nvPr/>
        </p:nvSpPr>
        <p:spPr>
          <a:xfrm>
            <a:off x="1325880" y="5705856"/>
            <a:ext cx="7315200" cy="438912"/>
          </a:xfrm>
          <a:prstGeom prst="rect">
            <a:avLst/>
          </a:prstGeom>
          <a:noFill/>
          <a:ln/>
        </p:spPr>
        <p:txBody>
          <a:bodyPr wrap="square" lIns="0" tIns="0" rIns="0" bIns="0" rtlCol="0" anchor="ctr"/>
          <a:lstStyle/>
          <a:p>
            <a:pPr indent="0" marL="0">
              <a:buNone/>
            </a:pPr>
            <a:r>
              <a:rPr lang="en-US" sz="1700" dirty="0">
                <a:solidFill>
                  <a:srgbClr val="FFFFFF"/>
                </a:solidFill>
              </a:rPr>
              <a:t>CV Darma Ayu Tekno, Indramayu, Jawa Barat</a:t>
            </a:r>
            <a:endParaRPr lang="en-US" sz="1700" dirty="0"/>
          </a:p>
        </p:txBody>
      </p:sp>
    </p:spTree>
  </p:cSld>
  <p:clrMapOvr>
    <a:masterClrMapping/>
  </p:clrMapOvr>
</p:sld>
</file>

<file path=ppt/theme/theme1.xml><?xml version="1.0" encoding="utf-8"?>
<a:theme xmlns:a="http://schemas.openxmlformats.org/drawingml/2006/main" name="Smart Clinic Therapy">
  <a:themeElements>
    <a:clrScheme name="Smart Clinic Therapy">
      <a:dk1>
        <a:srgbClr val="12313A"/>
      </a:dk1>
      <a:lt1>
        <a:srgbClr val="FFFFFF"/>
      </a:lt1>
      <a:dk2>
        <a:srgbClr val="0B3C49"/>
      </a:dk2>
      <a:lt2>
        <a:srgbClr val="E8F3F3"/>
      </a:lt2>
      <a:accent1>
        <a:srgbClr val="0E7C7B"/>
      </a:accent1>
      <a:accent2>
        <a:srgbClr val="F97316"/>
      </a:accent2>
      <a:accent3>
        <a:srgbClr val="2B9EB3"/>
      </a:accent3>
      <a:accent4>
        <a:srgbClr val="6B7F83"/>
      </a:accent4>
      <a:accent5>
        <a:srgbClr val="CDE7E6"/>
      </a:accent5>
      <a:accent6>
        <a:srgbClr val="B4532A"/>
      </a:accent6>
      <a:hlink>
        <a:srgbClr val="0E7C7B"/>
      </a:hlink>
      <a:folHlink>
        <a:srgbClr val="0B3C49"/>
      </a:folHlink>
    </a:clrScheme>
    <a:fontScheme name="Smart Clinic Therap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CV Darma Ayu Tekno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Sosialisasi Smart Clinic Therapy</dc:title>
  <dc:subject>PptxGenJS Presentation</dc:subject>
  <dc:creator>CV Darma Ayu Tekno</dc:creator>
  <cp:lastModifiedBy>CV Darma Ayu Tekno</cp:lastModifiedBy>
  <cp:revision>1</cp:revision>
  <dcterms:created xsi:type="dcterms:W3CDTF">2026-10-25T11:07:33Z</dcterms:created>
  <dcterms:modified xsi:type="dcterms:W3CDTF">2026-10-25T11:07:33Z</dcterms:modified>
</cp:coreProperties>
</file>